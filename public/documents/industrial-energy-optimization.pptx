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416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FC9D2-AD7A-AAAD-2F43-12DA5532E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751946-7A6A-9EB6-1945-74AF8C261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3BDCE4-FC9C-FC8C-949E-28867E19C1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0428509-0A58-480D-B4B9-42600DFA1750}" type="datetimeFigureOut">
              <a:t>2026/10/22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FD40E3-8508-DC85-D790-85F9CA270E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C9D170-5B95-31E1-4498-1FD42C149B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391A07A-05CC-490C-BA03-95AA88E8FAA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1B54C1-6715-86E4-E238-C6AD6896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9D4DAE-DDFE-2A65-C008-004FF1836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77DA91-7626-7571-C9B8-FC5F0E747B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0428509-0A58-480D-B4B9-42600DFA1750}" type="datetimeFigureOut">
              <a:t>2026/10/22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CF8C07-8A43-8573-F7CE-F958010193D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5B2269-7479-A761-6FE9-54F367D9B0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391A07A-05CC-490C-BA03-95AA88E8FAA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B0D8F-6B39-AA43-BF74-BA367D25B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C90A5C-2A83-76E6-A1EA-72AC59D18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155FC9-5244-8AA2-29AC-0CB800B93E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0428509-0A58-480D-B4B9-42600DFA1750}" type="datetimeFigureOut">
              <a:t>2026/10/22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169551-42D8-FBA5-B4C2-63660D236C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FEB2F2-BBA9-A8C9-DFC3-1AE74EE0B7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391A07A-05CC-490C-BA03-95AA88E8FAA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59BFE1-E4D1-36B3-5C73-A13D35F1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9E7709-7DE3-B972-7F64-BC091E847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D47BE5-EB61-79ED-20F0-7D77AB61F81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99A193-895E-43B1-289D-C6BCFEC807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0428509-0A58-480D-B4B9-42600DFA1750}" type="datetimeFigureOut">
              <a:t>2026/10/22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3AC525-51E9-1DAA-20B2-7F8CD0C771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D8CAE6-660D-3EAF-C632-DD1C9FCE6D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391A07A-05CC-490C-BA03-95AA88E8FAA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1B8050-A24F-0B25-1B41-0EC533132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5604A3-A453-A893-0EB9-491F2DDC3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CB61F8-D15D-AF2D-751E-0DB6FF9FC5D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88F441-D92E-8FC6-EC64-E2E3ECCE772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B30A142-2624-F04A-0925-F1ACBD58BAB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D5CB1DA-369B-9126-069B-088C8EC54F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0428509-0A58-480D-B4B9-42600DFA1750}" type="datetimeFigureOut">
              <a:t>2026/10/22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8BDF68C-2B9A-0E3A-3525-EA0FEF8881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179C0E-603E-E768-535F-233CA9C6D2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391A07A-05CC-490C-BA03-95AA88E8FAA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73E636-9AD4-FFF6-BE44-A0B7D80C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4ADB24-E183-35E6-6514-9D19FEADAC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0428509-0A58-480D-B4B9-42600DFA1750}" type="datetimeFigureOut">
              <a:t>2026/10/22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CDBF43-74E1-49CA-A3A4-DCB0BEB624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A74FDD-D16C-4225-BB63-9762141636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391A07A-05CC-490C-BA03-95AA88E8FAA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CF2190-F4BF-85A2-A1AB-00F4A36892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0428509-0A58-480D-B4B9-42600DFA1750}" type="datetimeFigureOut">
              <a:t>2026/10/22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BDC37CD-605F-B273-1116-5C27EE60C5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9F2B1D-F1F0-EE82-0970-2526D6E9D3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391A07A-05CC-490C-BA03-95AA88E8FAA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F5DB77-54BF-23B8-D0AB-80D9E2125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250C48-5DD2-D062-2E69-1A12F4BE8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A364BC-F41C-3DAE-D8F6-597B1A6701D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E92B38-5E53-2ED4-E622-B957C4648A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0428509-0A58-480D-B4B9-42600DFA1750}" type="datetimeFigureOut">
              <a:t>2026/10/22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96BF80-5DE9-41CD-6765-BF6915B0FB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2D045F-4DA0-3D93-32E1-06B0C95EE9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391A07A-05CC-490C-BA03-95AA88E8FAA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72B5F-15A9-ED64-DE86-3B822DB8F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187FDC2-EBA4-D8CA-3686-78FF14353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4C66C0-D6BA-5F22-58B1-11F138AFEA0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12D294-A39E-BB2B-57AF-AFDFC88A18D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0428509-0A58-480D-B4B9-42600DFA1750}" type="datetimeFigureOut">
              <a:t>2026/10/22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29428D-AF13-0BC9-8359-CE61D783948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34DE10-23E6-ADCC-645B-14CF848155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391A07A-05CC-490C-BA03-95AA88E8FAA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82C4CF-9BA4-3904-8CE4-700AF25A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3881A3-6C02-2ED9-44E6-6A3BA357C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1A7A33-4D63-6B6C-9702-6F3C081F78E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0428509-0A58-480D-B4B9-42600DFA1750}" type="datetimeFigureOut">
              <a:t>2026/10/22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101629-5764-0B11-C620-5C1702D992A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4C961A-8C88-B059-F522-CBABE32296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391A07A-05CC-490C-BA03-95AA88E8FAA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DA9F6A-7BAE-67F3-ED8B-3968D494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2939BE-E494-FA44-E89B-B6E2B39D2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817935-E6F2-74A5-7F0A-0F14032BE3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0428509-0A58-480D-B4B9-42600DFA1750}" type="datetimeFigureOut">
              <a:t>2026/10/22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90DDA3-A0A1-A117-553B-96AF34F3CB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295B70-635B-CFDA-19B3-B67A3314A6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391A07A-05CC-490C-BA03-95AA88E8FAA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CE3E44-577D-3A76-5C9F-EB8E12BEB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47CD99-94A7-0212-01B1-339F936F6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6FB8E8-E8B0-1C7A-7044-73F80716695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428509-0A58-480D-B4B9-42600DFA1750}" type="datetimeFigureOut">
              <a:t>2026/10/22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DB3E0-4417-6989-14E2-EAE6300E266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0BADE3-445C-E1E5-181A-BC2867F181E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1A07A-05CC-490C-BA03-95AA88E8FAA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FD87B-0241-5C07-7EBF-FF98DF342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0040"/>
            <a:ext cx="9144000" cy="3677920"/>
          </a:xfrm>
        </p:spPr>
        <p:txBody>
          <a:bodyPr>
            <a:normAutofit/>
          </a:bodyPr>
          <a:lstStyle/>
          <a:p>
            <a:r>
              <a:rPr sz="8000" b="1">
                <a:latin typeface="黑体"/>
                <a:ea typeface="黑体"/>
                <a:cs typeface="黑体"/>
              </a:rPr>
              <a:t>工业冷却水系统水泵调频节能分析</a:t>
            </a:r>
            <a:br>
              <a:rPr b="1">
                <a:latin typeface="黑体"/>
                <a:ea typeface="黑体"/>
                <a:cs typeface="黑体"/>
              </a:rPr>
            </a:br>
            <a:br>
              <a:rPr sz="3100" b="1">
                <a:latin typeface="黑体"/>
                <a:ea typeface="黑体"/>
                <a:cs typeface="黑体"/>
              </a:rPr>
            </a:br>
            <a:r>
              <a:rPr sz="3100">
                <a:latin typeface="黑体"/>
                <a:ea typeface="黑体"/>
                <a:cs typeface="黑体"/>
              </a:rPr>
              <a:t>——基于2025年9-11月</a:t>
            </a:r>
            <a:r>
              <a:rPr sz="3200">
                <a:latin typeface="黑体"/>
                <a:ea typeface="黑体"/>
                <a:cs typeface="黑体"/>
              </a:rPr>
              <a:t>东厂区</a:t>
            </a:r>
            <a:r>
              <a:rPr sz="3100">
                <a:latin typeface="黑体"/>
                <a:ea typeface="黑体"/>
                <a:cs typeface="黑体"/>
              </a:rPr>
              <a:t>历史运行数据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DB1A05-D970-DFFE-870D-CC3D18023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36080" y="5349240"/>
            <a:ext cx="3086100" cy="350520"/>
          </a:xfrm>
        </p:spPr>
        <p:txBody>
          <a:bodyPr>
            <a:normAutofit/>
          </a:bodyPr>
          <a:lstStyle/>
          <a:p>
            <a:pPr algn="r">
              <a:buNone/>
            </a:pPr>
            <a:r>
              <a:rPr sz="1600"/>
              <a:t>工业节能项目案例</a:t>
            </a:r>
          </a:p>
        </p:txBody>
      </p:sp>
    </p:spTree>
    <p:extLst>
      <p:ext uri="{BB962C8B-B14F-4D97-AF65-F5344CB8AC3E}">
        <p14:creationId xmlns:p14="http://schemas.microsoft.com/office/powerpoint/2010/main" val="62936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9B917FC-06D4-8BF0-5A01-E880D59BB2BA}"/>
              </a:ext>
            </a:extLst>
          </p:cNvPr>
          <p:cNvSpPr>
            <a:spLocks noGrp="1"/>
          </p:cNvSpPr>
          <p:nvPr/>
        </p:nvSpPr>
        <p:spPr>
          <a:xfrm>
            <a:off x="1547812" y="565081"/>
            <a:ext cx="9096373" cy="5560673"/>
          </a:xfrm>
          <a:prstGeom prst="rect">
            <a:avLst/>
          </a:prstGeom>
          <a:solidFill>
            <a:srgbClr val="F046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127B081-5286-59BF-AEB6-8710050907A8}"/>
              </a:ext>
            </a:extLst>
          </p:cNvPr>
          <p:cNvSpPr>
            <a:spLocks noGrp="1"/>
          </p:cNvSpPr>
          <p:nvPr/>
        </p:nvSpPr>
        <p:spPr>
          <a:xfrm>
            <a:off x="1590997" y="1416536"/>
            <a:ext cx="9009999" cy="46663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06EC4F4-8890-62C5-2FC2-D083DC7E1E78}"/>
              </a:ext>
            </a:extLst>
          </p:cNvPr>
          <p:cNvSpPr>
            <a:spLocks noGrp="1"/>
          </p:cNvSpPr>
          <p:nvPr/>
        </p:nvSpPr>
        <p:spPr>
          <a:xfrm>
            <a:off x="1822871" y="523433"/>
            <a:ext cx="4064675" cy="93475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 b="1">
                <a:solidFill>
                  <a:srgbClr val="FEF029"/>
                </a:solidFill>
                <a:latin typeface="微软雅黑"/>
                <a:ea typeface="微软雅黑"/>
                <a:cs typeface="微软雅黑"/>
              </a:rPr>
              <a:t> FIGURE </a:t>
            </a: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因果架构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C72288CD-5C41-42D9-82C3-958F962E9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991" y="2129218"/>
            <a:ext cx="699583" cy="680565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5190B60A-52BA-CC1B-5D5D-7FF8D3C9F5E6}"/>
              </a:ext>
            </a:extLst>
          </p:cNvPr>
          <p:cNvSpPr>
            <a:spLocks noGrp="1"/>
          </p:cNvSpPr>
          <p:nvPr/>
        </p:nvSpPr>
        <p:spPr>
          <a:xfrm>
            <a:off x="6953538" y="2746138"/>
            <a:ext cx="834489" cy="2976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/>
              <a:t>电机水泵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81EFF99-CD33-AACF-CECF-3D0CFA9D9F35}"/>
              </a:ext>
            </a:extLst>
          </p:cNvPr>
          <p:cNvSpPr>
            <a:spLocks noGrp="1"/>
          </p:cNvSpPr>
          <p:nvPr/>
        </p:nvSpPr>
        <p:spPr>
          <a:xfrm>
            <a:off x="7741407" y="2439182"/>
            <a:ext cx="24384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厂区水泵 统一变频 跳档切换</a:t>
            </a: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CEEFFF1D-C705-49C9-A0EC-8AAF00D33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019" y="3140187"/>
            <a:ext cx="684742" cy="655747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E3AD977E-B223-EC59-952A-1C9E19621562}"/>
              </a:ext>
            </a:extLst>
          </p:cNvPr>
          <p:cNvSpPr>
            <a:spLocks noGrp="1"/>
          </p:cNvSpPr>
          <p:nvPr/>
        </p:nvSpPr>
        <p:spPr>
          <a:xfrm>
            <a:off x="7056307" y="3743493"/>
            <a:ext cx="601790" cy="25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/>
              <a:t>冷冻机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C7CB232-C620-645B-C282-276CF5EDF643}"/>
              </a:ext>
            </a:extLst>
          </p:cNvPr>
          <p:cNvSpPr>
            <a:spLocks noGrp="1"/>
          </p:cNvSpPr>
          <p:nvPr/>
        </p:nvSpPr>
        <p:spPr>
          <a:xfrm>
            <a:off x="7735443" y="3342178"/>
            <a:ext cx="7232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累计值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0E164453-1AFB-4526-8D52-F05508042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0687" y="4223506"/>
            <a:ext cx="473029" cy="530688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5198FCA9-B40D-20C8-FF52-5D20644A7349}"/>
              </a:ext>
            </a:extLst>
          </p:cNvPr>
          <p:cNvSpPr>
            <a:spLocks noGrp="1"/>
          </p:cNvSpPr>
          <p:nvPr/>
        </p:nvSpPr>
        <p:spPr>
          <a:xfrm>
            <a:off x="7008684" y="4790585"/>
            <a:ext cx="834489" cy="2976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/>
              <a:t>排气压力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4F27A9D-67AA-4A06-8512-96D527EAD2FD}"/>
              </a:ext>
            </a:extLst>
          </p:cNvPr>
          <p:cNvSpPr>
            <a:spLocks noGrp="1"/>
          </p:cNvSpPr>
          <p:nvPr/>
        </p:nvSpPr>
        <p:spPr>
          <a:xfrm>
            <a:off x="7735442" y="4317528"/>
            <a:ext cx="2339101" cy="523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根据排气压力调整水泵频率</a:t>
            </a:r>
          </a:p>
          <a:p>
            <a:r>
              <a:rPr sz="1400" b="1"/>
              <a:t>以期控制在边界内</a:t>
            </a:r>
          </a:p>
        </p:txBody>
      </p:sp>
      <p:pic>
        <p:nvPicPr>
          <p:cNvPr id="6" name="内容占位符 4">
            <a:extLst>
              <a:ext uri="{FF2B5EF4-FFF2-40B4-BE49-F238E27FC236}">
                <a16:creationId xmlns:a16="http://schemas.microsoft.com/office/drawing/2014/main" id="{A889E17F-836C-4B14-9544-5D6E8815C5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5597" y="1690685"/>
            <a:ext cx="4216689" cy="3918540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D832A682-3C6B-3916-DBB6-B13990D0839C}"/>
              </a:ext>
            </a:extLst>
          </p:cNvPr>
          <p:cNvSpPr>
            <a:spLocks noGrp="1"/>
          </p:cNvSpPr>
          <p:nvPr/>
        </p:nvSpPr>
        <p:spPr>
          <a:xfrm>
            <a:off x="4270456" y="1717329"/>
            <a:ext cx="1891830" cy="2779341"/>
          </a:xfrm>
          <a:prstGeom prst="roundRect">
            <a:avLst>
              <a:gd name="adj" fmla="val 4223"/>
            </a:avLst>
          </a:prstGeom>
          <a:noFill/>
          <a:ln w="12700">
            <a:solidFill>
              <a:srgbClr val="4B75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9041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7007E3-3EE2-56CD-3CF0-EE76A477C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408" y="152400"/>
            <a:ext cx="9718833" cy="1103948"/>
          </a:xfrm>
        </p:spPr>
        <p:txBody>
          <a:bodyPr/>
          <a:lstStyle/>
          <a:p>
            <a:r>
              <a:rPr b="1">
                <a:latin typeface="黑体"/>
                <a:ea typeface="黑体"/>
                <a:cs typeface="黑体"/>
              </a:rPr>
              <a:t>执行摘要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2F373F1-398A-4319-97F0-95D10B7244A1}"/>
              </a:ext>
            </a:extLst>
          </p:cNvPr>
          <p:cNvGraphicFramePr/>
          <p:nvPr/>
        </p:nvGraphicFramePr>
        <p:xfrm>
          <a:off x="951408" y="1256348"/>
          <a:ext cx="9718833" cy="483761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563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3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1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202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 b="1">
                          <a:latin typeface="黑体"/>
                          <a:ea typeface="黑体"/>
                          <a:cs typeface="黑体"/>
                        </a:rPr>
                        <a:t>分析逻辑</a:t>
                      </a:r>
                    </a:p>
                  </a:txBody>
                  <a:tcPr marL="69069" marR="69069" marT="34534" marB="34534"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/>
                    </a:p>
                  </a:txBody>
                  <a:tcPr marL="69069" marR="69069" marT="34534" marB="34534" anchor="ctr"/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sz="1100"/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409">
                <a:tc rowSpan="3"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 b="1">
                          <a:latin typeface="黑体"/>
                          <a:ea typeface="黑体"/>
                          <a:cs typeface="黑体"/>
                        </a:rPr>
                        <a:t>历史数据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1"/>
                        <a:t>常用频率的合理性？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/>
                        <a:t>降低使用100hz的频率，提高90hz</a:t>
                      </a:r>
                      <a:r>
                        <a:rPr sz="1100"/>
                        <a:t>：以30min为基本单位，水泵主要在90hz（17.28%）与100hz（32.96%）两个档位运行。全样本比较、工况区间匹配及KNN近邻匹配三种方法——逐渐增强对混淆变量即工况的控制——结论保持一致：历史运行100hz的场景，水泵频率无需达到100hz，</a:t>
                      </a:r>
                      <a:r>
                        <a:rPr sz="1100" b="0"/>
                        <a:t>90hz</a:t>
                      </a:r>
                      <a:r>
                        <a:rPr sz="1100"/>
                        <a:t>即可，且能实现更低的系统总能耗。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112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1100" b="1">
                        <a:solidFill>
                          <a:srgbClr val="FF0000"/>
                        </a:solidFill>
                      </a:endParaRP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1"/>
                        <a:t>频率切换的合理性？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00" b="1">
                          <a:solidFill>
                            <a:schemeClr val="tx1"/>
                          </a:solidFill>
                        </a:rPr>
                        <a:t>频率切换没有完全受到工况调整</a:t>
                      </a:r>
                      <a:r>
                        <a:rPr sz="1100" b="0">
                          <a:solidFill>
                            <a:schemeClr val="tx1"/>
                          </a:solidFill>
                        </a:rPr>
                        <a:t>：稳态切换事件中，进行升频和降频决策操作前工况分布无显著差异，调频不受工况驱动。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1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1100" b="1">
                        <a:solidFill>
                          <a:srgbClr val="FF0000"/>
                        </a:solidFill>
                      </a:endParaRP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1"/>
                        <a:t>习惯性高频？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chemeClr val="tx1"/>
                          </a:solidFill>
                        </a:rPr>
                        <a:t>维持高频区间</a:t>
                      </a:r>
                      <a:r>
                        <a:rPr sz="1100" b="0">
                          <a:solidFill>
                            <a:schemeClr val="tx1"/>
                          </a:solidFill>
                        </a:rPr>
                        <a:t>：大部分时间水泵运行频率范围在[90-100]，并且频率切换呈现出90hz-98hz/99hz/100hz之间往返。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7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黑体"/>
                          <a:ea typeface="黑体"/>
                          <a:cs typeface="黑体"/>
                        </a:rPr>
                        <a:t>预测方法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/>
                        <a:t>TSMixer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/>
                        <a:t>输入</a:t>
                      </a:r>
                      <a:r>
                        <a:rPr sz="1100"/>
                        <a:t>：历史时间窗口内的系统运行状态序列（进水温度、排气压力、负荷压力比、时间等特征）和当前时刻的水泵频率。</a:t>
                      </a:r>
                      <a:br>
                        <a:rPr sz="1100"/>
                      </a:br>
                      <a:r>
                        <a:rPr sz="1100" b="1"/>
                        <a:t>输出</a:t>
                      </a:r>
                      <a:r>
                        <a:rPr sz="1100"/>
                        <a:t>：当前时刻的系统总能耗预测值，以及下一时刻的排气压力预测值。</a:t>
                      </a:r>
                      <a:br>
                        <a:rPr sz="1100"/>
                      </a:br>
                      <a:br>
                        <a:rPr sz="1100" b="1"/>
                      </a:br>
                      <a:r>
                        <a:rPr sz="1100" b="0"/>
                        <a:t>TSMixer</a:t>
                      </a:r>
                      <a:r>
                        <a:rPr sz="1100"/>
                        <a:t>同时学习“动作（频率）-能耗”的代价关系与"动作（频率）-压力"的转移关系。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7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黑体"/>
                          <a:ea typeface="黑体"/>
                          <a:cs typeface="黑体"/>
                        </a:rPr>
                        <a:t>优化方法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/>
                        <a:t>TSMixer + CMAB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/>
                        <a:t>上下文多臂赌博机（CMAB）：以近期运行状态为上下文，在候选频率中选择动作，以预测系统总能耗为优化目标，并约束排气压力处于历史合理范围。</a:t>
                      </a:r>
                      <a:endParaRPr sz="1100" b="0"/>
                    </a:p>
                    <a:p>
                      <a:pPr algn="l">
                        <a:buNone/>
                      </a:pPr>
                      <a:r>
                        <a:rPr sz="1100" b="1"/>
                        <a:t>应用前需通过线上A/B测试验证。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4760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A4A3DB1-F286-454C-A21F-F406A766178A}"/>
              </a:ext>
            </a:extLst>
          </p:cNvPr>
          <p:cNvGraphicFramePr/>
          <p:nvPr/>
        </p:nvGraphicFramePr>
        <p:xfrm>
          <a:off x="1377933" y="3520521"/>
          <a:ext cx="399097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rgbClr val="4B75BC"/>
                          </a:solidFill>
                        </a:rPr>
                        <a:t>数据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rgbClr val="4B75BC"/>
                          </a:solidFill>
                        </a:rPr>
                        <a:t>采样频率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rgbClr val="4B75BC"/>
                          </a:solidFill>
                        </a:rPr>
                        <a:t>含义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能耗数据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30 min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累计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冷冻机运行数据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30 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瞬时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水泵频率数据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10 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瞬时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21EFAD78-A787-DE22-5BCA-048511C50287}"/>
              </a:ext>
            </a:extLst>
          </p:cNvPr>
          <p:cNvSpPr>
            <a:spLocks noGrp="1"/>
          </p:cNvSpPr>
          <p:nvPr/>
        </p:nvSpPr>
        <p:spPr>
          <a:xfrm>
            <a:off x="1119958" y="3521533"/>
            <a:ext cx="266700" cy="1481335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FA61619-FB74-3CB5-1BB7-859587F7E114}"/>
              </a:ext>
            </a:extLst>
          </p:cNvPr>
          <p:cNvSpPr>
            <a:spLocks noGrp="1"/>
          </p:cNvSpPr>
          <p:nvPr/>
        </p:nvSpPr>
        <p:spPr>
          <a:xfrm>
            <a:off x="1008696" y="5627734"/>
            <a:ext cx="780213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采用试点先行的研究策略，以东厂区为典型样本开展系统性分析，所构建的优化模型和节能策略具备向同厂区推广的适用性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A268476-B147-563E-5688-B26FDF125F4B}"/>
              </a:ext>
            </a:extLst>
          </p:cNvPr>
          <p:cNvSpPr>
            <a:spLocks noGrp="1"/>
          </p:cNvSpPr>
          <p:nvPr/>
        </p:nvSpPr>
        <p:spPr>
          <a:xfrm>
            <a:off x="1008696" y="2965423"/>
            <a:ext cx="49635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表1. </a:t>
            </a:r>
            <a:r>
              <a:rPr sz="1100"/>
              <a:t>东厂区工况数据与能耗数据采集情况。数据采集时间范围为 9月至11月。在该时间段内，东厂区三台冷冻机均完整记录了相关运行工况参数及能耗数据。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523F7E30-137A-5CD0-3DDD-1585B510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52400"/>
            <a:ext cx="9718833" cy="1103948"/>
          </a:xfrm>
        </p:spPr>
        <p:txBody>
          <a:bodyPr/>
          <a:lstStyle/>
          <a:p>
            <a:r>
              <a:rPr b="1">
                <a:latin typeface="黑体"/>
                <a:ea typeface="黑体"/>
                <a:cs typeface="黑体"/>
              </a:rPr>
              <a:t>历史数据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13BC6A9-839D-65E2-9D1D-F07C6F2E67DC}"/>
              </a:ext>
            </a:extLst>
          </p:cNvPr>
          <p:cNvSpPr>
            <a:spLocks noGrp="1"/>
          </p:cNvSpPr>
          <p:nvPr/>
        </p:nvSpPr>
        <p:spPr>
          <a:xfrm>
            <a:off x="951408" y="1314789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>
                <a:latin typeface="黑体"/>
                <a:ea typeface="黑体"/>
                <a:cs typeface="黑体"/>
              </a:rPr>
              <a:t>数据采样频率说明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FFFEDC-4980-5A85-7F33-FAB0ED4ED2AD}"/>
              </a:ext>
            </a:extLst>
          </p:cNvPr>
          <p:cNvSpPr>
            <a:spLocks noGrp="1"/>
          </p:cNvSpPr>
          <p:nvPr/>
        </p:nvSpPr>
        <p:spPr>
          <a:xfrm>
            <a:off x="0" y="434340"/>
            <a:ext cx="419100" cy="556260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070057-2DEF-7FDA-BC75-42B6001949C0}"/>
              </a:ext>
            </a:extLst>
          </p:cNvPr>
          <p:cNvSpPr>
            <a:spLocks noGrp="1"/>
          </p:cNvSpPr>
          <p:nvPr/>
        </p:nvSpPr>
        <p:spPr>
          <a:xfrm>
            <a:off x="0" y="1706880"/>
            <a:ext cx="951408" cy="329389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825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9D792F0E-BCCE-891E-4727-F6B5A81C66B6}"/>
              </a:ext>
            </a:extLst>
          </p:cNvPr>
          <p:cNvSpPr>
            <a:spLocks noGrp="1"/>
          </p:cNvSpPr>
          <p:nvPr/>
        </p:nvSpPr>
        <p:spPr>
          <a:xfrm>
            <a:off x="1039176" y="2839986"/>
            <a:ext cx="58929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30min内的平均工况数据（负荷、排气压力、电机频率）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004955A-A3E9-F1C9-718B-FB0D86C87D42}"/>
              </a:ext>
            </a:extLst>
          </p:cNvPr>
          <p:cNvSpPr>
            <a:spLocks noGrp="1"/>
          </p:cNvSpPr>
          <p:nvPr/>
        </p:nvSpPr>
        <p:spPr>
          <a:xfrm>
            <a:off x="1065983" y="4452735"/>
            <a:ext cx="61093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此时记录的30min能耗变化数据（冷冻机能耗、电机能耗）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A91F0A-6F8C-825D-2969-C015F78E56E8}"/>
              </a:ext>
            </a:extLst>
          </p:cNvPr>
          <p:cNvSpPr>
            <a:spLocks noGrp="1"/>
          </p:cNvSpPr>
          <p:nvPr/>
        </p:nvSpPr>
        <p:spPr>
          <a:xfrm>
            <a:off x="2878059" y="3448814"/>
            <a:ext cx="3505200" cy="228600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AC0412-FFCA-BA38-FB5A-66945175AEC8}"/>
              </a:ext>
            </a:extLst>
          </p:cNvPr>
          <p:cNvSpPr>
            <a:spLocks noGrp="1"/>
          </p:cNvSpPr>
          <p:nvPr/>
        </p:nvSpPr>
        <p:spPr>
          <a:xfrm>
            <a:off x="6190692" y="3677414"/>
            <a:ext cx="422205" cy="228600"/>
          </a:xfrm>
          <a:prstGeom prst="rect">
            <a:avLst/>
          </a:prstGeom>
          <a:solidFill>
            <a:srgbClr val="FEF029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箭头: 下弧形 9">
            <a:extLst>
              <a:ext uri="{FF2B5EF4-FFF2-40B4-BE49-F238E27FC236}">
                <a16:creationId xmlns:a16="http://schemas.microsoft.com/office/drawing/2014/main" id="{FE276B49-8E2D-DF1B-B411-C07D16A5154E}"/>
              </a:ext>
            </a:extLst>
          </p:cNvPr>
          <p:cNvSpPr>
            <a:spLocks noGrp="1"/>
          </p:cNvSpPr>
          <p:nvPr/>
        </p:nvSpPr>
        <p:spPr>
          <a:xfrm>
            <a:off x="4944985" y="4008845"/>
            <a:ext cx="1520825" cy="412750"/>
          </a:xfrm>
          <a:prstGeom prst="curvedUpArrow">
            <a:avLst>
              <a:gd name="adj1" fmla="val 25000"/>
              <a:gd name="adj2" fmla="val 43022"/>
              <a:gd name="adj3" fmla="val 25000"/>
            </a:avLst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200" b="1">
                <a:solidFill>
                  <a:srgbClr val="002060"/>
                </a:solidFill>
              </a:rPr>
              <a:t>产生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3B26F8-F797-3BDA-B0BC-D676EB26EF3B}"/>
              </a:ext>
            </a:extLst>
          </p:cNvPr>
          <p:cNvSpPr>
            <a:spLocks noGrp="1"/>
          </p:cNvSpPr>
          <p:nvPr/>
        </p:nvSpPr>
        <p:spPr>
          <a:xfrm>
            <a:off x="2648421" y="3201330"/>
            <a:ext cx="51007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highlight>
                  <a:srgbClr val="FFFF00"/>
                </a:highlight>
              </a:rPr>
              <a:t>15:00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C67232-9DC0-439A-E43B-AF871D38D347}"/>
              </a:ext>
            </a:extLst>
          </p:cNvPr>
          <p:cNvSpPr>
            <a:spLocks noGrp="1"/>
          </p:cNvSpPr>
          <p:nvPr/>
        </p:nvSpPr>
        <p:spPr>
          <a:xfrm>
            <a:off x="6102821" y="3215456"/>
            <a:ext cx="51007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highlight>
                  <a:srgbClr val="FFFF00"/>
                </a:highlight>
              </a:rPr>
              <a:t>15:30</a:t>
            </a:r>
          </a:p>
        </p:txBody>
      </p:sp>
      <p:sp>
        <p:nvSpPr>
          <p:cNvPr id="24" name="标题 1">
            <a:extLst>
              <a:ext uri="{FF2B5EF4-FFF2-40B4-BE49-F238E27FC236}">
                <a16:creationId xmlns:a16="http://schemas.microsoft.com/office/drawing/2014/main" id="{D0D51DC6-08F4-0ED1-1DAC-4B3D2757D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52400"/>
            <a:ext cx="9718833" cy="1103948"/>
          </a:xfrm>
        </p:spPr>
        <p:txBody>
          <a:bodyPr/>
          <a:lstStyle/>
          <a:p>
            <a:r>
              <a:rPr b="1">
                <a:latin typeface="黑体"/>
                <a:ea typeface="黑体"/>
                <a:cs typeface="黑体"/>
              </a:rPr>
              <a:t>历史数据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16C3A01-8F4C-C3F2-1151-03E5842312C7}"/>
              </a:ext>
            </a:extLst>
          </p:cNvPr>
          <p:cNvSpPr>
            <a:spLocks noGrp="1"/>
          </p:cNvSpPr>
          <p:nvPr/>
        </p:nvSpPr>
        <p:spPr>
          <a:xfrm>
            <a:off x="0" y="434340"/>
            <a:ext cx="419100" cy="556260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E47F175-BBB7-F59A-4EAF-E4927F113513}"/>
              </a:ext>
            </a:extLst>
          </p:cNvPr>
          <p:cNvSpPr>
            <a:spLocks noGrp="1"/>
          </p:cNvSpPr>
          <p:nvPr/>
        </p:nvSpPr>
        <p:spPr>
          <a:xfrm>
            <a:off x="951408" y="1314789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>
                <a:latin typeface="黑体"/>
                <a:ea typeface="黑体"/>
                <a:cs typeface="黑体"/>
              </a:rPr>
              <a:t>工况数据与能耗数据的时间粒度对齐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958E44-F86B-1189-463D-A093447F50BC}"/>
              </a:ext>
            </a:extLst>
          </p:cNvPr>
          <p:cNvSpPr>
            <a:spLocks noGrp="1"/>
          </p:cNvSpPr>
          <p:nvPr/>
        </p:nvSpPr>
        <p:spPr>
          <a:xfrm>
            <a:off x="0" y="1706880"/>
            <a:ext cx="951408" cy="329389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924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7DE06826-CE12-8DF0-A5A8-57E6810E62BB}"/>
              </a:ext>
            </a:extLst>
          </p:cNvPr>
          <p:cNvSpPr>
            <a:spLocks noGrp="1"/>
          </p:cNvSpPr>
          <p:nvPr/>
        </p:nvSpPr>
        <p:spPr>
          <a:xfrm>
            <a:off x="1941913" y="5325829"/>
            <a:ext cx="66732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图1. </a:t>
            </a:r>
            <a:r>
              <a:rPr sz="1100"/>
              <a:t>工况参数与系统能耗的相关性 。现场运行记录表明，“操作员”通常根据排气压力变化对水泵频率进行人工调节。当排气压力升高时，水泵频率往往被提高以增加流量去拉低排气压力，从而导致在运行区间内排气压力与水泵频率呈现同步升高的特征。</a:t>
            </a:r>
            <a:r>
              <a:rPr sz="1100" b="1"/>
              <a:t>虽然水泵频率调节对排气压力具有一定影响，但其作用相对有限(r=0.45)，排气压力的变化主要受系统负荷变化的影响(r=0.82)。</a:t>
            </a:r>
            <a:endParaRPr sz="110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99F3137C-5D23-4FCB-8B39-17D8D177C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10" r="17022"/>
          <a:stretch>
            <a:fillRect/>
          </a:stretch>
        </p:blipFill>
        <p:spPr>
          <a:xfrm>
            <a:off x="3500184" y="2154360"/>
            <a:ext cx="3556662" cy="3171469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E97134B5-0EB9-F925-5696-E5D90102C4AD}"/>
              </a:ext>
            </a:extLst>
          </p:cNvPr>
          <p:cNvSpPr>
            <a:spLocks noGrp="1"/>
          </p:cNvSpPr>
          <p:nvPr/>
        </p:nvSpPr>
        <p:spPr>
          <a:xfrm>
            <a:off x="951408" y="1314789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>
                <a:latin typeface="黑体"/>
                <a:ea typeface="黑体"/>
                <a:cs typeface="黑体"/>
              </a:rPr>
              <a:t>数据相关性分析（Pearson相关系数）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F5DD1181-7A06-8ADB-02ED-18CD115B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52400"/>
            <a:ext cx="9718833" cy="1103948"/>
          </a:xfrm>
        </p:spPr>
        <p:txBody>
          <a:bodyPr/>
          <a:lstStyle/>
          <a:p>
            <a:r>
              <a:rPr b="1">
                <a:latin typeface="黑体"/>
                <a:ea typeface="黑体"/>
                <a:cs typeface="黑体"/>
              </a:rPr>
              <a:t>历史数据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66C77E8-F326-7772-63E2-606E8C9DF316}"/>
              </a:ext>
            </a:extLst>
          </p:cNvPr>
          <p:cNvSpPr>
            <a:spLocks noGrp="1"/>
          </p:cNvSpPr>
          <p:nvPr/>
        </p:nvSpPr>
        <p:spPr>
          <a:xfrm>
            <a:off x="0" y="434340"/>
            <a:ext cx="419100" cy="556260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1B694BE-D75B-7DDB-E663-927BD5C94D28}"/>
              </a:ext>
            </a:extLst>
          </p:cNvPr>
          <p:cNvSpPr>
            <a:spLocks noGrp="1"/>
          </p:cNvSpPr>
          <p:nvPr/>
        </p:nvSpPr>
        <p:spPr>
          <a:xfrm>
            <a:off x="0" y="1706880"/>
            <a:ext cx="951408" cy="329389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991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C0F04B9-5635-84C5-2959-A92BA4CF3CBF}"/>
              </a:ext>
            </a:extLst>
          </p:cNvPr>
          <p:cNvSpPr>
            <a:spLocks noGrp="1"/>
          </p:cNvSpPr>
          <p:nvPr/>
        </p:nvSpPr>
        <p:spPr>
          <a:xfrm>
            <a:off x="666104" y="2409220"/>
            <a:ext cx="108597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表2. </a:t>
            </a:r>
            <a:r>
              <a:rPr sz="1100"/>
              <a:t>东厂区冷却水泵不同运行频率下的系统工况与能耗统计描述。</a:t>
            </a:r>
            <a:r>
              <a:rPr sz="1100" b="1">
                <a:solidFill>
                  <a:schemeClr val="accent2"/>
                </a:solidFill>
              </a:rPr>
              <a:t>水泵主要在100 Hz（32.96%）和90 Hz（17.28%）两个档位运行，合计占总运行时间的50%左右，其余频率档位均低于3%</a:t>
            </a:r>
            <a:r>
              <a:rPr sz="1100"/>
              <a:t>。 100 Hz与90 Hz对应的排气压力（928 vs 929 kPa）和进水温度（22.86 vs 22.19°C）高度相近，但100 Hz对应的负荷总和略高（581 vs 562）。也就是说，</a:t>
            </a:r>
            <a:r>
              <a:rPr sz="1100" b="1"/>
              <a:t>在工况相近的条件下，90 Hz的系统总能耗（455.66 kWh）低于100 Hz（482.68 kWh），差值约27 kWh/30min，主要差异来自水泵能耗（57.05 vs 75.99 kWh），冷冻机能耗差异相对较小（398.62 vs 406.69 kWh）。</a:t>
            </a:r>
            <a:r>
              <a:rPr sz="1100"/>
              <a:t>水泵最低运行频率64Hz仅占1.21%，对应排气压力（741 kPa）和负荷（220）均最低，为轻负荷周期的节能运行模式。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7432236-4C37-45BB-99DF-B2065B8017B3}"/>
              </a:ext>
            </a:extLst>
          </p:cNvPr>
          <p:cNvGraphicFramePr/>
          <p:nvPr/>
        </p:nvGraphicFramePr>
        <p:xfrm>
          <a:off x="1758231" y="3454281"/>
          <a:ext cx="8675538" cy="29534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72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4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88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08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53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/>
                        <a:t>电机频率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/>
                        <a:t>占比(%)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/>
                        <a:t>排气压力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/>
                        <a:t>负荷总和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/>
                        <a:t>进水温度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/>
                        <a:t>冷冻机能耗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/>
                        <a:t>水泵能耗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/>
                        <a:t>系统总能耗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3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100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32.96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928.31 ± 132.40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581.61 ± 274.71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22.86 ± 3.93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406.69 ± 202.34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75.99 ± 27.60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482.68 ± 224.45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3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90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17.28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929.16 ± 82.48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561.65 ± 230.82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22.19 ± 3.38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398.62 ± 160.13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57.05 ± 19.16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0000"/>
                          </a:solidFill>
                        </a:rPr>
                        <a:t>455.66 ± 175.24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3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98.4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2.31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1079.58 ± 50.71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806.72 ± 93.40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25.94 ± 1.40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602.00 ± 70.28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86.87 ± 0.53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688.87 ± 70.20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3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98.75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1.81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968.46 ± 42.96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794.88 ± 99.51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23.00 ± 0.89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550.09 ± 79.14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88.58 ± 0.29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638.67 ± 79.03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3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99.85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1.49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1065.19 ± 66.85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648.33 ± 121.18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27.94 ± 1.61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494.84 ± 93.25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87.78 ± 1.01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582.62 ± 93.84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3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98.2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1.42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959.30 ± 38.75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722.23 ± 123.79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23.01 ± 1.03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511.27 ± 92.10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86.53 ± 0.57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597.80 ± 91.81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3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chemeClr val="tx1"/>
                          </a:solidFill>
                        </a:rPr>
                        <a:t>64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chemeClr val="tx1"/>
                          </a:solidFill>
                        </a:rPr>
                        <a:t>1.21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chemeClr val="tx1"/>
                          </a:solidFill>
                        </a:rPr>
                        <a:t>741.09 ± 33.92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chemeClr val="tx1"/>
                          </a:solidFill>
                        </a:rPr>
                        <a:t>220.32 ± 59.61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chemeClr val="tx1"/>
                          </a:solidFill>
                        </a:rPr>
                        <a:t>21.10 ± 1.40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chemeClr val="tx1"/>
                          </a:solidFill>
                        </a:rPr>
                        <a:t>118.05 ± 29.11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chemeClr val="tx1"/>
                          </a:solidFill>
                        </a:rPr>
                        <a:t>21.41 ± 0.78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>
                          <a:solidFill>
                            <a:schemeClr val="tx1"/>
                          </a:solidFill>
                        </a:rPr>
                        <a:t>139.46 ± 29.03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3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98.1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1.03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1009.02 ± 45.55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738.32 ± 118.41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25.51 ± 1.52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530.38 ± 79.24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84.90 ± 0.79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615.28 ± 79.18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3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其他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…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…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…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…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…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…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…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EF6CD6E1-5C6C-5E7D-553A-3098ADBDC9BF}"/>
              </a:ext>
            </a:extLst>
          </p:cNvPr>
          <p:cNvSpPr>
            <a:spLocks noGrp="1"/>
          </p:cNvSpPr>
          <p:nvPr/>
        </p:nvSpPr>
        <p:spPr>
          <a:xfrm>
            <a:off x="951408" y="1314789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>
                <a:latin typeface="黑体"/>
                <a:ea typeface="黑体"/>
                <a:cs typeface="黑体"/>
              </a:rPr>
              <a:t>习惯性高频？水泵不同运行频率下的工况和能耗统计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BDC0361-BC9C-09F0-2C8C-923868A8F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52400"/>
            <a:ext cx="9718833" cy="1103948"/>
          </a:xfrm>
        </p:spPr>
        <p:txBody>
          <a:bodyPr/>
          <a:lstStyle/>
          <a:p>
            <a:r>
              <a:rPr b="1">
                <a:latin typeface="黑体"/>
                <a:ea typeface="黑体"/>
                <a:cs typeface="黑体"/>
              </a:rPr>
              <a:t>历史数据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E055AA-FE34-13B4-9824-AC5E11411180}"/>
              </a:ext>
            </a:extLst>
          </p:cNvPr>
          <p:cNvSpPr>
            <a:spLocks noGrp="1"/>
          </p:cNvSpPr>
          <p:nvPr/>
        </p:nvSpPr>
        <p:spPr>
          <a:xfrm>
            <a:off x="0" y="434340"/>
            <a:ext cx="419100" cy="556260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8BB94C-4B5C-353E-208D-3558F83B3418}"/>
              </a:ext>
            </a:extLst>
          </p:cNvPr>
          <p:cNvSpPr>
            <a:spLocks noGrp="1"/>
          </p:cNvSpPr>
          <p:nvPr/>
        </p:nvSpPr>
        <p:spPr>
          <a:xfrm>
            <a:off x="0" y="1706880"/>
            <a:ext cx="951408" cy="329389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9762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4328290-B2EF-09A0-321D-81582344713F}"/>
              </a:ext>
            </a:extLst>
          </p:cNvPr>
          <p:cNvSpPr>
            <a:spLocks noGrp="1"/>
          </p:cNvSpPr>
          <p:nvPr/>
        </p:nvSpPr>
        <p:spPr>
          <a:xfrm>
            <a:off x="951408" y="1000997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>
                <a:latin typeface="黑体"/>
                <a:ea typeface="黑体"/>
                <a:cs typeface="黑体"/>
              </a:rPr>
              <a:t>不同水泵频率下的工况与能耗统计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A5BE760-0301-0F77-2161-D4D1E976D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52400"/>
            <a:ext cx="9718833" cy="1103948"/>
          </a:xfrm>
        </p:spPr>
        <p:txBody>
          <a:bodyPr/>
          <a:lstStyle/>
          <a:p>
            <a:r>
              <a:rPr b="1">
                <a:latin typeface="黑体"/>
                <a:ea typeface="黑体"/>
                <a:cs typeface="黑体"/>
              </a:rPr>
              <a:t>历史数据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66969-CB26-1049-1AB8-E84F1C6CA45E}"/>
              </a:ext>
            </a:extLst>
          </p:cNvPr>
          <p:cNvSpPr>
            <a:spLocks noGrp="1"/>
          </p:cNvSpPr>
          <p:nvPr/>
        </p:nvSpPr>
        <p:spPr>
          <a:xfrm>
            <a:off x="0" y="434340"/>
            <a:ext cx="419100" cy="556260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3E95F8-E69E-FB2C-AB3F-F7FA201A4F9A}"/>
              </a:ext>
            </a:extLst>
          </p:cNvPr>
          <p:cNvSpPr>
            <a:spLocks noGrp="1"/>
          </p:cNvSpPr>
          <p:nvPr/>
        </p:nvSpPr>
        <p:spPr>
          <a:xfrm>
            <a:off x="0" y="1393088"/>
            <a:ext cx="951408" cy="329389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D95AD8-2812-498B-53FC-D4D40229B1B3}"/>
              </a:ext>
            </a:extLst>
          </p:cNvPr>
          <p:cNvSpPr>
            <a:spLocks noGrp="1"/>
          </p:cNvSpPr>
          <p:nvPr/>
        </p:nvSpPr>
        <p:spPr>
          <a:xfrm>
            <a:off x="666103" y="2175855"/>
            <a:ext cx="1085979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图2. </a:t>
            </a:r>
            <a:r>
              <a:rPr sz="1100"/>
              <a:t>东厂区冷却水泵90hz和100hz运行频率下的系统工况与能耗变化的差异描述。基于2025年9-11月现场运行记录，对冷却水泵在90hz与100hz两种主要运行频率下的系统工况参数及能耗指标进行独立样本t检验。结果表明，两种运行频率下冷冻机排气压力均值无显著差异，冷冻机能耗变化量无显著差异，水泵能耗变化量存在显著差异。这说明将水泵运行频率由90 Hz提升至100 Hz并未对系统排气压力产生显著的调节效果，但是100 Hz运行频率下水泵能耗显著高于90hz，增幅约为18.94 kWh/30min（+33.2%），该额外能耗并未通过冷冻机能耗的显著降低得到补偿，导致系统总能耗在100hz下显著高于90Hz。综上，在当前系统运行工况范围内，将冷却水泵频率由90 Hz提升至100 Hz不能显著降低冷凝排气压力，反而造成水泵能耗的显著增加。</a:t>
            </a:r>
            <a:r>
              <a:rPr sz="1100" b="1"/>
              <a:t>建议将90 Hz设定为冷却水泵变频调节的上限边界</a:t>
            </a:r>
            <a:r>
              <a:rPr sz="1100"/>
              <a:t>，在满足系统冷凝需求的前提下实现系统总能耗的最优控制。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7B97DB7-0A86-403F-A1ED-86D1B1374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900" y="3035477"/>
            <a:ext cx="5905032" cy="195073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EAD7774-43E2-4DD9-9C89-004A959B9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3020" y="4821392"/>
            <a:ext cx="7305960" cy="195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82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32393F7-A1AF-E56B-46F2-23E1A5131957}"/>
              </a:ext>
            </a:extLst>
          </p:cNvPr>
          <p:cNvSpPr>
            <a:spLocks noGrp="1"/>
          </p:cNvSpPr>
          <p:nvPr/>
        </p:nvSpPr>
        <p:spPr>
          <a:xfrm>
            <a:off x="573782" y="1750000"/>
            <a:ext cx="110444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表3. </a:t>
            </a:r>
            <a:r>
              <a:rPr sz="1100"/>
              <a:t>在对负荷、排气压力及进水温度进行分区控制（8个区间）后，对不同水泵频率（100hz vs. 90hz）下的系统总能耗进行对比。在可比较的运行工况中，90hz 频率在 19 个工况中表现出更低的系统能耗，</a:t>
            </a:r>
            <a:r>
              <a:rPr sz="1100" b="1"/>
              <a:t>而 100hz 仅在 4 个工况中具有优势</a:t>
            </a:r>
            <a:r>
              <a:rPr sz="1100"/>
              <a:t>。因此，从统计结果来看，在相似运行条件下，</a:t>
            </a:r>
            <a:r>
              <a:rPr sz="1100" b="1"/>
              <a:t>采用90hz频率运行更有利于降低系统整体能耗。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09C869E-B417-4223-958C-63A306581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203" y="2313622"/>
            <a:ext cx="9425593" cy="4187213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2B31D3D4-E931-FCC7-B8CA-A081BEAE5D3F}"/>
              </a:ext>
            </a:extLst>
          </p:cNvPr>
          <p:cNvSpPr>
            <a:spLocks noGrp="1"/>
          </p:cNvSpPr>
          <p:nvPr/>
        </p:nvSpPr>
        <p:spPr>
          <a:xfrm>
            <a:off x="951408" y="684848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>
                <a:latin typeface="黑体"/>
                <a:ea typeface="黑体"/>
                <a:cs typeface="黑体"/>
              </a:rPr>
              <a:t>常用频率的合理性？分区工况下100Hz与90Hz水泵的能耗对比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D924F346-3F19-B1B1-3DE8-D28B6517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0"/>
            <a:ext cx="9718833" cy="1103948"/>
          </a:xfrm>
        </p:spPr>
        <p:txBody>
          <a:bodyPr/>
          <a:lstStyle/>
          <a:p>
            <a:r>
              <a:rPr b="1">
                <a:latin typeface="黑体"/>
                <a:ea typeface="黑体"/>
                <a:cs typeface="黑体"/>
              </a:rPr>
              <a:t>历史数据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4F55CB-1F14-D81A-D9C2-34E7A921F8B8}"/>
              </a:ext>
            </a:extLst>
          </p:cNvPr>
          <p:cNvSpPr>
            <a:spLocks noGrp="1"/>
          </p:cNvSpPr>
          <p:nvPr/>
        </p:nvSpPr>
        <p:spPr>
          <a:xfrm>
            <a:off x="0" y="281940"/>
            <a:ext cx="419100" cy="556260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D07C61-AE55-8804-119A-5A904A6ECCB4}"/>
              </a:ext>
            </a:extLst>
          </p:cNvPr>
          <p:cNvSpPr>
            <a:spLocks noGrp="1"/>
          </p:cNvSpPr>
          <p:nvPr/>
        </p:nvSpPr>
        <p:spPr>
          <a:xfrm>
            <a:off x="0" y="1076939"/>
            <a:ext cx="951408" cy="329389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09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5">
            <a:extLst>
              <a:ext uri="{FF2B5EF4-FFF2-40B4-BE49-F238E27FC236}">
                <a16:creationId xmlns:a16="http://schemas.microsoft.com/office/drawing/2014/main" id="{AFDFA381-09B5-9B70-C6A4-399B9988F9FE}"/>
              </a:ext>
            </a:extLst>
          </p:cNvPr>
          <p:cNvSpPr>
            <a:spLocks noGrp="1"/>
          </p:cNvSpPr>
          <p:nvPr/>
        </p:nvSpPr>
        <p:spPr>
          <a:xfrm>
            <a:off x="692150" y="1939247"/>
            <a:ext cx="1083374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100" b="1"/>
              <a:t>图3. </a:t>
            </a:r>
            <a:r>
              <a:rPr sz="1100"/>
              <a:t>基于KNN，两种主要运行频率在匹配工况（负荷、排气压力、进水温度相近）下的能耗对比。两种运行频率下冷冻机能耗差异无统计学意义（p=0.955），然而，100hz运行频率下水泵能耗较90hz显著增加（Δ=+20.67 kWh/30min，p&lt;0.001），且该额外水泵能耗未能通过冷冻机的节能效益（排气压力）得到补偿，系统总能耗净增约20.20 kWh/30min。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D05455B-FA0B-4201-A5FD-8A805DE86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782" y="4690922"/>
            <a:ext cx="8148434" cy="21670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448E3E3-539F-4864-9A41-E2D9EB6B3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47" y="2575601"/>
            <a:ext cx="7075253" cy="2115321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2C0E5E4A-0C38-C75E-ABA0-7E0077D5C44F}"/>
              </a:ext>
            </a:extLst>
          </p:cNvPr>
          <p:cNvSpPr>
            <a:spLocks noGrp="1"/>
          </p:cNvSpPr>
          <p:nvPr/>
        </p:nvSpPr>
        <p:spPr>
          <a:xfrm>
            <a:off x="951408" y="1000997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>
                <a:latin typeface="黑体"/>
                <a:ea typeface="黑体"/>
                <a:cs typeface="黑体"/>
              </a:rPr>
              <a:t>KNN近邻匹配下100Hz与90Hz水泵的能耗对比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91AA40D-7D20-C094-7EE6-159F9D35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52400"/>
            <a:ext cx="9718833" cy="1103948"/>
          </a:xfrm>
        </p:spPr>
        <p:txBody>
          <a:bodyPr/>
          <a:lstStyle/>
          <a:p>
            <a:r>
              <a:rPr b="1">
                <a:latin typeface="黑体"/>
                <a:ea typeface="黑体"/>
                <a:cs typeface="黑体"/>
              </a:rPr>
              <a:t>历史数据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F07A8F-3A49-BDBF-9005-61D1AAC3786A}"/>
              </a:ext>
            </a:extLst>
          </p:cNvPr>
          <p:cNvSpPr>
            <a:spLocks noGrp="1"/>
          </p:cNvSpPr>
          <p:nvPr/>
        </p:nvSpPr>
        <p:spPr>
          <a:xfrm>
            <a:off x="0" y="434340"/>
            <a:ext cx="419100" cy="556260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B9C4181-D903-808A-F716-EE34744B3E37}"/>
              </a:ext>
            </a:extLst>
          </p:cNvPr>
          <p:cNvSpPr>
            <a:spLocks noGrp="1"/>
          </p:cNvSpPr>
          <p:nvPr/>
        </p:nvSpPr>
        <p:spPr>
          <a:xfrm>
            <a:off x="0" y="1393088"/>
            <a:ext cx="951408" cy="329389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322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66E10AC-3EC7-44C9-BC0C-211A8F7A5D99}"/>
              </a:ext>
            </a:extLst>
          </p:cNvPr>
          <p:cNvGraphicFramePr/>
          <p:nvPr/>
        </p:nvGraphicFramePr>
        <p:xfrm>
          <a:off x="6666648" y="4112344"/>
          <a:ext cx="4766951" cy="15240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926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9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4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9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水泵</a:t>
                      </a:r>
                      <a:br>
                        <a:rPr sz="1000"/>
                      </a:br>
                      <a:r>
                        <a:rPr sz="1000"/>
                        <a:t>频率</a:t>
                      </a:r>
                      <a:br>
                        <a:rPr sz="1000"/>
                      </a:br>
                      <a:r>
                        <a:rPr sz="1000"/>
                        <a:t>(range)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水泵</a:t>
                      </a:r>
                      <a:br>
                        <a:rPr sz="1000"/>
                      </a:br>
                      <a:r>
                        <a:rPr sz="1000"/>
                        <a:t>频率(mode)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总运行时长</a:t>
                      </a:r>
                      <a:br>
                        <a:rPr sz="1000"/>
                      </a:br>
                      <a:r>
                        <a:rPr sz="1000"/>
                        <a:t>(h)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最大稳态运行时长(h)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时间段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7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100.0~100.0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100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791.11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12.42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11-16 02:37 ~ 11-16 15:01 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7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98.75~99.05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99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165.37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46.00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10-21 10:39 ~ 10-23 08:38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7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90.0~90.0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90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493.89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2.41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/>
                        <a:t>09-01 15:00 ~ 09-01 17:24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235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/>
                        <a:t>86.5~90.0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8.35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/>
                        <a:t>1.40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/>
                        <a:t>10-19 04:18 ~ 10-19 05:42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EE3D14B-7A3B-9F33-EF04-F71C4A37DEB3}"/>
              </a:ext>
            </a:extLst>
          </p:cNvPr>
          <p:cNvSpPr>
            <a:spLocks noGrp="1"/>
          </p:cNvSpPr>
          <p:nvPr/>
        </p:nvSpPr>
        <p:spPr>
          <a:xfrm>
            <a:off x="6607922" y="3837928"/>
            <a:ext cx="423316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表4. </a:t>
            </a:r>
            <a:r>
              <a:rPr sz="1100"/>
              <a:t>最大连续稳态运行时段。</a:t>
            </a:r>
            <a:endParaRPr sz="1100" b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6B6DCB-5252-718C-27BA-922AF6BF51A4}"/>
              </a:ext>
            </a:extLst>
          </p:cNvPr>
          <p:cNvSpPr>
            <a:spLocks noGrp="1"/>
          </p:cNvSpPr>
          <p:nvPr/>
        </p:nvSpPr>
        <p:spPr>
          <a:xfrm>
            <a:off x="819151" y="2001460"/>
            <a:ext cx="106144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图4. </a:t>
            </a:r>
            <a:r>
              <a:rPr sz="1100"/>
              <a:t>2025年9-11月水泵频率切换轨迹。30秒为基本单位，以相邻采样点间频率变化幅度大于2 Hz作为有效切换的判定阈值，低于该阈值的频率波动视作采集或者操作误差予以忽略。其中，进行升频切换的次数有3811（51.9%），进行降频切换操作的有3529（48.1%）。</a:t>
            </a:r>
            <a:endParaRPr sz="1100" b="1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54D7B6E-F22D-4B60-8468-F9ADC84FD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33" y="2497310"/>
            <a:ext cx="5157067" cy="4004650"/>
          </a:xfrm>
          <a:prstGeom prst="rect">
            <a:avLst/>
          </a:prstGeom>
        </p:spPr>
      </p:pic>
      <p:sp>
        <p:nvSpPr>
          <p:cNvPr id="12" name="标题 1">
            <a:extLst>
              <a:ext uri="{FF2B5EF4-FFF2-40B4-BE49-F238E27FC236}">
                <a16:creationId xmlns:a16="http://schemas.microsoft.com/office/drawing/2014/main" id="{C3BCAC15-A4EC-6CD5-DFEC-F5C4E4FA508B}"/>
              </a:ext>
            </a:extLst>
          </p:cNvPr>
          <p:cNvSpPr>
            <a:spLocks noGrp="1"/>
          </p:cNvSpPr>
          <p:nvPr/>
        </p:nvSpPr>
        <p:spPr>
          <a:xfrm>
            <a:off x="951408" y="832549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>
                <a:latin typeface="黑体"/>
                <a:ea typeface="黑体"/>
                <a:cs typeface="黑体"/>
              </a:rPr>
              <a:t>水泵频率切换轨迹与稳态运行分析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265B7B0F-55DF-9CB8-1E49-7C491640B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-16048"/>
            <a:ext cx="9718833" cy="1103948"/>
          </a:xfrm>
        </p:spPr>
        <p:txBody>
          <a:bodyPr/>
          <a:lstStyle/>
          <a:p>
            <a:r>
              <a:rPr b="1">
                <a:latin typeface="黑体"/>
                <a:ea typeface="黑体"/>
                <a:cs typeface="黑体"/>
              </a:rPr>
              <a:t>历史数据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0D7E68-EC24-C4DF-8BC6-43165606DCDE}"/>
              </a:ext>
            </a:extLst>
          </p:cNvPr>
          <p:cNvSpPr>
            <a:spLocks noGrp="1"/>
          </p:cNvSpPr>
          <p:nvPr/>
        </p:nvSpPr>
        <p:spPr>
          <a:xfrm>
            <a:off x="0" y="265892"/>
            <a:ext cx="419100" cy="556260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C4D91D-0EF9-7EC6-B31D-3FBA7E60E050}"/>
              </a:ext>
            </a:extLst>
          </p:cNvPr>
          <p:cNvSpPr>
            <a:spLocks noGrp="1"/>
          </p:cNvSpPr>
          <p:nvPr/>
        </p:nvSpPr>
        <p:spPr>
          <a:xfrm>
            <a:off x="0" y="1224640"/>
            <a:ext cx="951408" cy="329389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7417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854164-3FFD-4772-BE76-0ED5A2428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940" y="3060576"/>
            <a:ext cx="7162800" cy="190847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6D152E7-CB85-70A1-B2A2-95E84A8B75D6}"/>
              </a:ext>
            </a:extLst>
          </p:cNvPr>
          <p:cNvSpPr>
            <a:spLocks noGrp="1"/>
          </p:cNvSpPr>
          <p:nvPr/>
        </p:nvSpPr>
        <p:spPr>
          <a:xfrm>
            <a:off x="666103" y="2039330"/>
            <a:ext cx="108597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图5. </a:t>
            </a:r>
            <a:r>
              <a:rPr sz="1100"/>
              <a:t>定义稳态切换事件为：切换操作前后30分钟内无再次切换发生，以排除连续调频对工况观测的干扰。升频与降频决策触发前的系统工况分布（负荷、排气压力、进水温度）均无显著差异，调频决策不受工况变化驱动。升频决策（以90 Hz→X Hz为代表）发生后，切换前后系统工况无显著变化，表明提高水泵频率未能有效改善冷凝工况；而降频决策发生后，切换前后工况存在显著差异。水泵频率的切换升频并没有带来可观测的工况改善，但是必然导致水泵能耗的显著增加。</a:t>
            </a:r>
          </a:p>
          <a:p>
            <a:endParaRPr sz="11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A86806D-5346-44E0-8A3A-5AE884AB4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42" y="5949885"/>
            <a:ext cx="3461375" cy="6637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2E9698D-52A8-7E40-B838-B6BC37C59C3B}"/>
              </a:ext>
            </a:extLst>
          </p:cNvPr>
          <p:cNvSpPr>
            <a:spLocks noGrp="1"/>
          </p:cNvSpPr>
          <p:nvPr/>
        </p:nvSpPr>
        <p:spPr>
          <a:xfrm>
            <a:off x="607919" y="5622387"/>
            <a:ext cx="109915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稳态升频（3801）                                                                 稳态降频（3517）                                                                     稳态升频90-&gt;X（3023）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4720B3B-8577-4A53-8C35-B86DA9401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6245" y="5949885"/>
            <a:ext cx="3582501" cy="67567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A69DB6C-7DFB-45EA-8E86-C2469D556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1075" y="5949886"/>
            <a:ext cx="3461375" cy="663699"/>
          </a:xfrm>
          <a:prstGeom prst="rect">
            <a:avLst/>
          </a:prstGeom>
        </p:spPr>
      </p:pic>
      <p:sp>
        <p:nvSpPr>
          <p:cNvPr id="12" name="标题 1">
            <a:extLst>
              <a:ext uri="{FF2B5EF4-FFF2-40B4-BE49-F238E27FC236}">
                <a16:creationId xmlns:a16="http://schemas.microsoft.com/office/drawing/2014/main" id="{C2E715BC-069B-3D5A-A304-B8EA36A08CAD}"/>
              </a:ext>
            </a:extLst>
          </p:cNvPr>
          <p:cNvSpPr>
            <a:spLocks noGrp="1"/>
          </p:cNvSpPr>
          <p:nvPr/>
        </p:nvSpPr>
        <p:spPr>
          <a:xfrm>
            <a:off x="951408" y="832549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>
                <a:latin typeface="黑体"/>
                <a:ea typeface="黑体"/>
                <a:cs typeface="黑体"/>
              </a:rPr>
              <a:t>稳态切换前后系统工况差异检验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157AED6F-E432-6696-DDF7-6D66E74A2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-16048"/>
            <a:ext cx="9718833" cy="1103948"/>
          </a:xfrm>
        </p:spPr>
        <p:txBody>
          <a:bodyPr/>
          <a:lstStyle/>
          <a:p>
            <a:r>
              <a:rPr b="1">
                <a:latin typeface="黑体"/>
                <a:ea typeface="黑体"/>
                <a:cs typeface="黑体"/>
              </a:rPr>
              <a:t>历史数据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DFEEBC-90D5-EFB8-292B-5A399EEBC696}"/>
              </a:ext>
            </a:extLst>
          </p:cNvPr>
          <p:cNvSpPr>
            <a:spLocks noGrp="1"/>
          </p:cNvSpPr>
          <p:nvPr/>
        </p:nvSpPr>
        <p:spPr>
          <a:xfrm>
            <a:off x="0" y="265892"/>
            <a:ext cx="419100" cy="556260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AB4A67-786D-74BB-C2A2-DAAE57CF8EB3}"/>
              </a:ext>
            </a:extLst>
          </p:cNvPr>
          <p:cNvSpPr>
            <a:spLocks noGrp="1"/>
          </p:cNvSpPr>
          <p:nvPr/>
        </p:nvSpPr>
        <p:spPr>
          <a:xfrm>
            <a:off x="0" y="1224640"/>
            <a:ext cx="951408" cy="329389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5190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75B8236-E300-836C-6C70-BF3DF3BE7A0F}"/>
              </a:ext>
            </a:extLst>
          </p:cNvPr>
          <p:cNvSpPr>
            <a:spLocks noGrp="1"/>
          </p:cNvSpPr>
          <p:nvPr/>
        </p:nvSpPr>
        <p:spPr>
          <a:xfrm>
            <a:off x="797672" y="1775632"/>
            <a:ext cx="105966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图6. </a:t>
            </a:r>
            <a:r>
              <a:rPr sz="1100"/>
              <a:t>频率转移矩阵。操作决策其实是在机械的在高频范围内习惯性往返。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DD0A59C-4919-4354-AC5C-A5EBDD74E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72" y="2132359"/>
            <a:ext cx="4865737" cy="452815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10596D3-DD5D-4702-9D7E-AC7754809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666" y="2620633"/>
            <a:ext cx="4519134" cy="362267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BDCB5F6-809E-A291-8717-C26CF6DF9E73}"/>
              </a:ext>
            </a:extLst>
          </p:cNvPr>
          <p:cNvSpPr>
            <a:spLocks noGrp="1"/>
          </p:cNvSpPr>
          <p:nvPr/>
        </p:nvSpPr>
        <p:spPr>
          <a:xfrm>
            <a:off x="3832863" y="5118112"/>
            <a:ext cx="1441450" cy="140335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9ECF68-6623-2C04-CC38-A086750F2504}"/>
              </a:ext>
            </a:extLst>
          </p:cNvPr>
          <p:cNvSpPr>
            <a:spLocks noGrp="1"/>
          </p:cNvSpPr>
          <p:nvPr/>
        </p:nvSpPr>
        <p:spPr>
          <a:xfrm>
            <a:off x="6226812" y="2368214"/>
            <a:ext cx="4707887" cy="40033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0F41F436-FABF-4781-9683-C657C4EFC769}"/>
              </a:ext>
            </a:extLst>
          </p:cNvPr>
          <p:cNvSpPr>
            <a:spLocks noGrp="1"/>
          </p:cNvSpPr>
          <p:nvPr/>
        </p:nvSpPr>
        <p:spPr>
          <a:xfrm flipV="1">
            <a:off x="5274313" y="2364740"/>
            <a:ext cx="942337" cy="275337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F09BA6B7-71FC-4148-8143-E3A06B563FF2}"/>
              </a:ext>
            </a:extLst>
          </p:cNvPr>
          <p:cNvSpPr>
            <a:spLocks noGrp="1"/>
          </p:cNvSpPr>
          <p:nvPr/>
        </p:nvSpPr>
        <p:spPr>
          <a:xfrm flipV="1">
            <a:off x="5284475" y="6371589"/>
            <a:ext cx="952499" cy="14987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A8A4649-32F8-DB0E-2D28-5AED854C784E}"/>
              </a:ext>
            </a:extLst>
          </p:cNvPr>
          <p:cNvSpPr>
            <a:spLocks noGrp="1"/>
          </p:cNvSpPr>
          <p:nvPr/>
        </p:nvSpPr>
        <p:spPr>
          <a:xfrm>
            <a:off x="951408" y="832549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>
                <a:latin typeface="黑体"/>
                <a:ea typeface="黑体"/>
                <a:cs typeface="黑体"/>
              </a:rPr>
              <a:t>水泵频率转移概率矩阵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2A439D22-CFF6-A9AB-AF37-0095A3290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-16048"/>
            <a:ext cx="9718833" cy="1103948"/>
          </a:xfrm>
        </p:spPr>
        <p:txBody>
          <a:bodyPr/>
          <a:lstStyle/>
          <a:p>
            <a:r>
              <a:rPr b="1">
                <a:latin typeface="黑体"/>
                <a:ea typeface="黑体"/>
                <a:cs typeface="黑体"/>
              </a:rPr>
              <a:t>历史数据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4B58A8-5CDC-BF60-A6E5-009D22DAAD58}"/>
              </a:ext>
            </a:extLst>
          </p:cNvPr>
          <p:cNvSpPr>
            <a:spLocks noGrp="1"/>
          </p:cNvSpPr>
          <p:nvPr/>
        </p:nvSpPr>
        <p:spPr>
          <a:xfrm>
            <a:off x="0" y="265892"/>
            <a:ext cx="419100" cy="556260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F888A6-6888-89D4-8975-40EC465F8AF2}"/>
              </a:ext>
            </a:extLst>
          </p:cNvPr>
          <p:cNvSpPr>
            <a:spLocks noGrp="1"/>
          </p:cNvSpPr>
          <p:nvPr/>
        </p:nvSpPr>
        <p:spPr>
          <a:xfrm>
            <a:off x="0" y="1224640"/>
            <a:ext cx="951408" cy="329389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988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8C9DAC4-4DA4-CBB4-258B-6F21C0631FD3}"/>
              </a:ext>
            </a:extLst>
          </p:cNvPr>
          <p:cNvSpPr>
            <a:spLocks noGrp="1"/>
          </p:cNvSpPr>
          <p:nvPr/>
        </p:nvSpPr>
        <p:spPr>
          <a:xfrm>
            <a:off x="1104900" y="2234941"/>
            <a:ext cx="8153400" cy="41838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001EE5A-B4F0-37FF-E02F-259CA9E235B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12520" y="2395090"/>
                <a:ext cx="8145780" cy="34704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endParaRPr b="1" dirty="0"/>
              </a:p>
              <a:p>
                <a:pPr>
                  <a:buNone/>
                </a:pPr>
                <a:r>
                  <a:rPr b="1" dirty="0" err="1"/>
                  <a:t>输入</a:t>
                </a:r>
                <a:r>
                  <a:rPr b="1" dirty="0"/>
                  <a:t>：</a:t>
                </a:r>
                <a:endParaRPr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/>
                          <a:ea typeface="Cambria Math"/>
                          <a:cs typeface="Cambria Math"/>
                        </a:rPr>
                        <m:t>𝐼𝑛𝑝𝑢𝑡</m:t>
                      </m:r>
                      <m:r>
                        <a:rPr lang="en-US" i="1"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zh-CN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  <m:r>
                                <a:rPr lang="zh-CN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𝑠𝑒𝑞𝑙𝑒𝑛</m:t>
                              </m:r>
                              <m: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: </m:t>
                              </m:r>
                              <m:r>
                                <a:rPr lang="zh-CN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  <m:r>
                                <a:rPr lang="zh-CN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r>
                            <a:rPr lang="zh-CN" i="1">
                              <a:latin typeface="Cambria Math"/>
                              <a:ea typeface="Cambria Math"/>
                              <a:cs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zh-CN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zh-CN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i="1" dirty="0">
                  <a:latin typeface="Cambria Math"/>
                  <a:ea typeface="Cambria Math"/>
                  <a:cs typeface="Cambria Math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i="1">
                            <a:latin typeface="Cambria Math"/>
                            <a:ea typeface="Cambria Math"/>
                            <a:cs typeface="Cambria Math"/>
                          </a:rPr>
                          <m:t>𝑆</m:t>
                        </m:r>
                      </m:e>
                      <m:sub>
                        <m:r>
                          <a:rPr lang="en-US" b="0" i="1"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  <m:r>
                          <a:rPr lang="en-US" b="0" i="1"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en-US" b="0" i="1">
                            <a:latin typeface="Cambria Math"/>
                            <a:ea typeface="Cambria Math"/>
                            <a:cs typeface="Cambria Math"/>
                          </a:rPr>
                          <m:t>𝑠𝑒𝑞𝑙𝑒𝑛</m:t>
                        </m:r>
                        <m:r>
                          <a:rPr lang="en-US" b="0" i="1">
                            <a:latin typeface="Cambria Math"/>
                            <a:ea typeface="Cambria Math"/>
                            <a:cs typeface="Cambria Math"/>
                          </a:rPr>
                          <m:t> :</m:t>
                        </m:r>
                        <m:r>
                          <a:rPr lang="en-US" b="0" i="1"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  <m:r>
                          <a:rPr lang="en-US" b="0" i="1">
                            <a:latin typeface="Cambria Math"/>
                            <a:ea typeface="Cambria Math"/>
                            <a:cs typeface="Cambria Math"/>
                          </a:rPr>
                          <m:t>−1</m:t>
                        </m:r>
                      </m:sub>
                    </m:sSub>
                    <m:r>
                      <a:rPr lang="zh-CN" i="1">
                        <a:latin typeface="Cambria Math"/>
                        <a:ea typeface="Cambria Math"/>
                        <a:cs typeface="Cambria Math"/>
                      </a:rPr>
                      <m:t> ∈ </m:t>
                    </m:r>
                    <m:sSup>
                      <m:sSupPr>
                        <m:ctrlPr>
                          <a:rPr lang="en-US" b="0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en-US" b="0">
                            <a:latin typeface="Cambria Math"/>
                            <a:ea typeface="Cambria Math"/>
                            <a:cs typeface="Cambria Math"/>
                          </a:rPr>
                          <m:t>ℝ</m:t>
                        </m:r>
                      </m:e>
                      <m:sup>
                        <m:r>
                          <a:rPr lang="en-US" b="0" i="1">
                            <a:latin typeface="Cambria Math"/>
                            <a:ea typeface="Cambria Math"/>
                            <a:cs typeface="Cambria Math"/>
                          </a:rPr>
                          <m:t>𝑠𝑒𝑞𝑙𝑒𝑛</m:t>
                        </m:r>
                      </m:sup>
                    </m:sSup>
                    <m:r>
                      <a:rPr lang="en-US" b="1" i="1">
                        <a:latin typeface="Cambria Math"/>
                        <a:ea typeface="Cambria Math"/>
                        <a:cs typeface="Cambria Math"/>
                      </a:rPr>
                      <m:t>×</m:t>
                    </m:r>
                    <m:r>
                      <a:rPr lang="zh-CN" i="1"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zh-CN" i="1">
                        <a:latin typeface="Cambria Math"/>
                        <a:ea typeface="Cambria Math"/>
                        <a:cs typeface="Cambria Math"/>
                      </a:rPr>
                      <m:t>𝑑</m:t>
                    </m:r>
                    <m:r>
                      <a:rPr lang="zh-CN" i="1">
                        <a:latin typeface="Cambria Math"/>
                        <a:ea typeface="Cambria Math"/>
                        <a:cs typeface="Cambria Math"/>
                      </a:rPr>
                      <m:t>}</m:t>
                    </m:r>
                  </m:oMath>
                </a14:m>
                <a:r>
                  <a:rPr dirty="0"/>
                  <a:t>：</a:t>
                </a:r>
                <a:r>
                  <a:rPr dirty="0" err="1"/>
                  <a:t>历史环境状态序列，由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lang="zh-CN" i="1"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  <m:r>
                      <a:rPr lang="zh-CN" i="1">
                        <a:latin typeface="Cambria Math"/>
                        <a:ea typeface="Cambria Math"/>
                        <a:cs typeface="Cambria Math"/>
                      </a:rPr>
                      <m:t>−</m:t>
                    </m:r>
                    <m:r>
                      <a:rPr lang="zh-CN" i="1">
                        <a:latin typeface="Cambria Math"/>
                        <a:ea typeface="Cambria Math"/>
                        <a:cs typeface="Cambria Math"/>
                      </a:rPr>
                      <m:t>𝑠𝑒𝑞𝑙𝑒𝑛</m:t>
                    </m:r>
                    <m:r>
                      <a:rPr lang="zh-CN" i="1"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</m:oMath>
                </a14:m>
                <a:r>
                  <a:rPr dirty="0"/>
                  <a:t>到 </a:t>
                </a:r>
                <a14:m>
                  <m:oMath xmlns:m="http://schemas.openxmlformats.org/officeDocument/2006/math">
                    <m:r>
                      <a:rPr lang="zh-CN" i="1"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  <m:r>
                      <a:rPr lang="zh-CN" i="1">
                        <a:latin typeface="Cambria Math"/>
                        <a:ea typeface="Cambria Math"/>
                        <a:cs typeface="Cambria Math"/>
                      </a:rPr>
                      <m:t>−1</m:t>
                    </m:r>
                  </m:oMath>
                </a14:m>
                <a:r>
                  <a:rPr dirty="0" err="1"/>
                  <a:t>时刻的观测量构成，包括进水温度、排气压力、负荷压力比、小时周期（sin、cos</a:t>
                </a:r>
                <a:r>
                  <a:rPr dirty="0"/>
                  <a:t>）、</a:t>
                </a:r>
                <a:r>
                  <a:rPr dirty="0" err="1"/>
                  <a:t>历史频率变化方差</a:t>
                </a:r>
                <a:r>
                  <a:rPr dirty="0"/>
                  <a:t>；</a:t>
                </a:r>
              </a:p>
              <a:p>
                <a:pPr marL="285750" indent="-285750"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i="1">
                            <a:latin typeface="Cambria Math"/>
                            <a:ea typeface="Cambria Math"/>
                            <a:cs typeface="Cambria Math"/>
                          </a:rPr>
                          <m:t>𝐴</m:t>
                        </m:r>
                      </m:e>
                      <m:sub>
                        <m:r>
                          <a:rPr lang="zh-CN" i="1"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sub>
                    </m:sSub>
                    <m:r>
                      <a:rPr lang="zh-CN" i="0">
                        <a:latin typeface="Cambria Math"/>
                        <a:ea typeface="Cambria Math"/>
                        <a:cs typeface="Cambria Math"/>
                      </a:rPr>
                      <m:t>∈</m:t>
                    </m:r>
                    <m:r>
                      <a:rPr lang="en-US" i="0">
                        <a:latin typeface="Cambria Math"/>
                        <a:ea typeface="Cambria Math"/>
                        <a:cs typeface="Cambria Math"/>
                      </a:rPr>
                      <m:t>ℝ</m:t>
                    </m:r>
                  </m:oMath>
                </a14:m>
                <a:r>
                  <a:rPr dirty="0"/>
                  <a:t>：</a:t>
                </a:r>
                <a14:m>
                  <m:oMath xmlns:m="http://schemas.openxmlformats.org/officeDocument/2006/math">
                    <m:r>
                      <a:rPr lang="zh-CN" i="1"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dirty="0"/>
                  <a:t> </a:t>
                </a:r>
                <a:r>
                  <a:rPr dirty="0" err="1"/>
                  <a:t>时刻的控制动作，即当前水泵运行频率</a:t>
                </a:r>
                <a:r>
                  <a:rPr dirty="0"/>
                  <a:t>。</a:t>
                </a:r>
              </a:p>
              <a:p>
                <a:endParaRPr dirty="0"/>
              </a:p>
              <a:p>
                <a:pPr>
                  <a:buNone/>
                </a:pPr>
                <a:r>
                  <a:rPr b="1" dirty="0" err="1"/>
                  <a:t>输出</a:t>
                </a:r>
                <a:r>
                  <a:rPr b="1" dirty="0"/>
                  <a:t>：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/>
                          <a:ea typeface="Cambria Math"/>
                          <a:cs typeface="Cambria Math"/>
                        </a:rPr>
                        <m:t>𝑂𝑢𝑡𝑝𝑢𝑡</m:t>
                      </m:r>
                      <m:r>
                        <a:rPr lang="en-US" i="1"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zh-CN" i="1">
                              <a:latin typeface="Cambria Math"/>
                              <a:ea typeface="Cambria Math"/>
                              <a:cs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i="1" dirty="0">
                  <a:latin typeface="Cambria Math"/>
                  <a:ea typeface="Cambria Math"/>
                  <a:cs typeface="Cambria Math"/>
                </a:endParaRPr>
              </a:p>
              <a:p>
                <a:pPr marL="285750" indent="-285750"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i="1">
                            <a:latin typeface="Cambria Math"/>
                            <a:ea typeface="Cambria Math"/>
                            <a:cs typeface="Cambria Math"/>
                          </a:rPr>
                          <m:t>𝑅</m:t>
                        </m:r>
                      </m:e>
                      <m:sub>
                        <m:r>
                          <a:rPr lang="zh-CN" i="1"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sub>
                    </m:sSub>
                    <m:r>
                      <a:rPr lang="zh-CN" i="0">
                        <a:latin typeface="Cambria Math"/>
                        <a:ea typeface="Cambria Math"/>
                        <a:cs typeface="Cambria Math"/>
                      </a:rPr>
                      <m:t>∈</m:t>
                    </m:r>
                    <m:r>
                      <a:rPr lang="en-US" i="0">
                        <a:latin typeface="Cambria Math"/>
                        <a:ea typeface="Cambria Math"/>
                        <a:cs typeface="Cambria Math"/>
                      </a:rPr>
                      <m:t>ℝ</m:t>
                    </m:r>
                  </m:oMath>
                </a14:m>
                <a:r>
                  <a:rPr dirty="0"/>
                  <a:t>：</a:t>
                </a:r>
                <a14:m>
                  <m:oMath xmlns:m="http://schemas.openxmlformats.org/officeDocument/2006/math">
                    <m:r>
                      <a:rPr lang="zh-CN" i="1"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dirty="0"/>
                  <a:t> </a:t>
                </a:r>
                <a:r>
                  <a:rPr dirty="0" err="1"/>
                  <a:t>时刻系统总能耗（即时代价</a:t>
                </a:r>
                <a:r>
                  <a:rPr dirty="0"/>
                  <a:t>/</a:t>
                </a:r>
                <a:r>
                  <a:rPr dirty="0" err="1"/>
                  <a:t>奖励信号</a:t>
                </a:r>
                <a:r>
                  <a:rPr dirty="0"/>
                  <a:t>）；</a:t>
                </a:r>
              </a:p>
              <a:p>
                <a:pPr marL="285750" indent="-285750"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i="1">
                            <a:latin typeface="Cambria Math"/>
                            <a:ea typeface="Cambria Math"/>
                            <a:cs typeface="Cambria Math"/>
                          </a:rPr>
                          <m:t>𝑃</m:t>
                        </m:r>
                      </m:e>
                      <m:sub>
                        <m:r>
                          <a:rPr lang="zh-CN" i="1"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  <m:r>
                          <a:rPr lang="en-US" i="0">
                            <a:latin typeface="Cambria Math"/>
                            <a:ea typeface="Cambria Math"/>
                            <a:cs typeface="Cambria Math"/>
                          </a:rPr>
                          <m:t>+1</m:t>
                        </m:r>
                      </m:sub>
                    </m:sSub>
                    <m:r>
                      <a:rPr lang="zh-CN" i="0">
                        <a:latin typeface="Cambria Math"/>
                        <a:ea typeface="Cambria Math"/>
                        <a:cs typeface="Cambria Math"/>
                      </a:rPr>
                      <m:t>∈</m:t>
                    </m:r>
                    <m:r>
                      <a:rPr lang="en-US" i="0">
                        <a:latin typeface="Cambria Math"/>
                        <a:ea typeface="Cambria Math"/>
                        <a:cs typeface="Cambria Math"/>
                      </a:rPr>
                      <m:t>ℝ</m:t>
                    </m:r>
                  </m:oMath>
                </a14:m>
                <a:r>
                  <a:rPr dirty="0"/>
                  <a:t>：</a:t>
                </a:r>
                <a14:m>
                  <m:oMath xmlns:m="http://schemas.openxmlformats.org/officeDocument/2006/math">
                    <m:r>
                      <a:rPr lang="zh-CN" i="1"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  <m:r>
                      <a:rPr lang="en-US" i="0">
                        <a:latin typeface="Cambria Math"/>
                        <a:ea typeface="Cambria Math"/>
                        <a:cs typeface="Cambria Math"/>
                      </a:rPr>
                      <m:t>+1</m:t>
                    </m:r>
                  </m:oMath>
                </a14:m>
                <a:r>
                  <a:rPr dirty="0"/>
                  <a:t> </a:t>
                </a:r>
                <a:r>
                  <a:rPr dirty="0" err="1"/>
                  <a:t>时刻排气压力（下一时刻的关键状态观测量</a:t>
                </a:r>
                <a:r>
                  <a:rPr dirty="0"/>
                  <a:t>）。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001EE5A-B4F0-37FF-E02F-259CA9E235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520" y="2395090"/>
                <a:ext cx="8145780" cy="3470437"/>
              </a:xfrm>
              <a:prstGeom prst="rect">
                <a:avLst/>
              </a:prstGeom>
              <a:blipFill>
                <a:blip r:embed="rId3"/>
                <a:stretch>
                  <a:fillRect l="-674" b="-19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BE5158EE-6D63-BCEE-0D54-8EB057C9A762}"/>
              </a:ext>
            </a:extLst>
          </p:cNvPr>
          <p:cNvSpPr>
            <a:spLocks noGrp="1"/>
          </p:cNvSpPr>
          <p:nvPr/>
        </p:nvSpPr>
        <p:spPr>
          <a:xfrm>
            <a:off x="951408" y="832549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>
                <a:latin typeface="黑体"/>
                <a:ea typeface="黑体"/>
                <a:cs typeface="黑体"/>
              </a:rPr>
              <a:t>TSMixer模型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BA325420-9B34-CEAD-F377-A8741D0E6B6F}"/>
              </a:ext>
            </a:extLst>
          </p:cNvPr>
          <p:cNvSpPr>
            <a:spLocks noGrp="1"/>
          </p:cNvSpPr>
          <p:nvPr/>
        </p:nvSpPr>
        <p:spPr>
          <a:xfrm>
            <a:off x="419100" y="-16048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b="1">
                <a:latin typeface="黑体"/>
                <a:ea typeface="黑体"/>
                <a:cs typeface="黑体"/>
              </a:rPr>
              <a:t>预测方法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F899D8-6D61-D229-0823-4E35204E45EE}"/>
              </a:ext>
            </a:extLst>
          </p:cNvPr>
          <p:cNvSpPr>
            <a:spLocks noGrp="1"/>
          </p:cNvSpPr>
          <p:nvPr/>
        </p:nvSpPr>
        <p:spPr>
          <a:xfrm>
            <a:off x="0" y="265892"/>
            <a:ext cx="419100" cy="556260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EDC83D-30BE-0405-4E9E-49D9F960DCD0}"/>
              </a:ext>
            </a:extLst>
          </p:cNvPr>
          <p:cNvSpPr>
            <a:spLocks noGrp="1"/>
          </p:cNvSpPr>
          <p:nvPr/>
        </p:nvSpPr>
        <p:spPr>
          <a:xfrm>
            <a:off x="0" y="1224640"/>
            <a:ext cx="951408" cy="329389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3668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616DDA9-5C8E-453B-B737-0529AB078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0" y="1371589"/>
            <a:ext cx="9144019" cy="5486411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7F0AB3F0-3FC9-A00D-50CB-3964860D881C}"/>
              </a:ext>
            </a:extLst>
          </p:cNvPr>
          <p:cNvSpPr>
            <a:spLocks noGrp="1"/>
          </p:cNvSpPr>
          <p:nvPr/>
        </p:nvSpPr>
        <p:spPr>
          <a:xfrm>
            <a:off x="951408" y="832549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>
                <a:latin typeface="黑体"/>
                <a:ea typeface="黑体"/>
                <a:cs typeface="黑体"/>
              </a:rPr>
              <a:t>收敛情况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3B2B4679-B48E-2DEA-6C57-2B500481C37C}"/>
              </a:ext>
            </a:extLst>
          </p:cNvPr>
          <p:cNvSpPr>
            <a:spLocks noGrp="1"/>
          </p:cNvSpPr>
          <p:nvPr/>
        </p:nvSpPr>
        <p:spPr>
          <a:xfrm>
            <a:off x="419100" y="-16048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b="1">
                <a:latin typeface="黑体"/>
                <a:ea typeface="黑体"/>
                <a:cs typeface="黑体"/>
              </a:rPr>
              <a:t>预测方法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BE6355-A58E-A838-8F50-02DD4DFC4172}"/>
              </a:ext>
            </a:extLst>
          </p:cNvPr>
          <p:cNvSpPr>
            <a:spLocks noGrp="1"/>
          </p:cNvSpPr>
          <p:nvPr/>
        </p:nvSpPr>
        <p:spPr>
          <a:xfrm>
            <a:off x="0" y="265892"/>
            <a:ext cx="419100" cy="556260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823CC9-DD15-A183-0347-D4DCDB693422}"/>
              </a:ext>
            </a:extLst>
          </p:cNvPr>
          <p:cNvSpPr>
            <a:spLocks noGrp="1"/>
          </p:cNvSpPr>
          <p:nvPr/>
        </p:nvSpPr>
        <p:spPr>
          <a:xfrm>
            <a:off x="0" y="1224640"/>
            <a:ext cx="951408" cy="329389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0850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874D6F8-B893-461B-B548-31F937A51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239" y="0"/>
            <a:ext cx="4572000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E146FC2-FBDB-4B06-824D-E67431BD8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493" y="0"/>
            <a:ext cx="3986942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F0AB3F0-3FC9-A00D-50CB-3964860D881C}"/>
              </a:ext>
            </a:extLst>
          </p:cNvPr>
          <p:cNvSpPr>
            <a:spLocks noGrp="1"/>
          </p:cNvSpPr>
          <p:nvPr/>
        </p:nvSpPr>
        <p:spPr>
          <a:xfrm>
            <a:off x="951408" y="848597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0"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800">
                <a:latin typeface="黑体"/>
                <a:ea typeface="黑体"/>
                <a:cs typeface="黑体"/>
              </a:rPr>
              <a:t>预测情况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3B2B4679-B48E-2DEA-6C57-2B500481C37C}"/>
              </a:ext>
            </a:extLst>
          </p:cNvPr>
          <p:cNvSpPr>
            <a:spLocks noGrp="1"/>
          </p:cNvSpPr>
          <p:nvPr/>
        </p:nvSpPr>
        <p:spPr>
          <a:xfrm>
            <a:off x="419100" y="0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0"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b="1">
                <a:latin typeface="黑体"/>
                <a:ea typeface="黑体"/>
                <a:cs typeface="黑体"/>
              </a:rPr>
              <a:t>预测方法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BE6355-A58E-A838-8F50-02DD4DFC4172}"/>
              </a:ext>
            </a:extLst>
          </p:cNvPr>
          <p:cNvSpPr>
            <a:spLocks noGrp="1"/>
          </p:cNvSpPr>
          <p:nvPr/>
        </p:nvSpPr>
        <p:spPr>
          <a:xfrm>
            <a:off x="0" y="281940"/>
            <a:ext cx="419100" cy="556260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823CC9-DD15-A183-0347-D4DCDB693422}"/>
              </a:ext>
            </a:extLst>
          </p:cNvPr>
          <p:cNvSpPr>
            <a:spLocks noGrp="1"/>
          </p:cNvSpPr>
          <p:nvPr/>
        </p:nvSpPr>
        <p:spPr>
          <a:xfrm>
            <a:off x="0" y="1240688"/>
            <a:ext cx="951408" cy="329389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9486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AB2970C-BEA2-9CEC-EA4C-038A19917B37}"/>
              </a:ext>
            </a:extLst>
          </p:cNvPr>
          <p:cNvSpPr>
            <a:spLocks noGrp="1"/>
          </p:cNvSpPr>
          <p:nvPr/>
        </p:nvSpPr>
        <p:spPr>
          <a:xfrm>
            <a:off x="1104900" y="2099867"/>
            <a:ext cx="8153400" cy="3909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C0BBEC4-E3D5-2B79-379A-98FF50B94C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12520" y="2214513"/>
                <a:ext cx="8145780" cy="3759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/>
                  <a:t>决策环境：</a:t>
                </a:r>
                <a:r>
                  <a:rPr lang="zh-CN" altLang="zh-CN" dirty="0"/>
                  <a:t>最近一段时间的运行工况，包括进水温度、排气压力、负荷压力比、时间特征和频率变化。</a:t>
                </a:r>
                <a:endParaRPr lang="en-US" altLang="zh-CN" b="1" dirty="0"/>
              </a:p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Context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seqlen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m:rPr>
                              <m:nor/>
                            </m:rPr>
                            <a:rPr lang="zh-CN" altLang="en-US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endParaRPr lang="en-US" altLang="zh-CN" b="1" dirty="0"/>
              </a:p>
              <a:p>
                <a:r>
                  <a:rPr lang="zh-CN" altLang="en-US" b="1" dirty="0"/>
                  <a:t>控制动作：</a:t>
                </a:r>
                <a:r>
                  <a:rPr lang="zh-CN" altLang="zh-CN" dirty="0"/>
                  <a:t>从离散候选档位中选择下一时刻的水泵频率。</a:t>
                </a:r>
                <a:endParaRPr lang="en-US" altLang="zh-CN" b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Action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zh-CN" altLang="en-US"/>
                        <m:t>离散频率档位集合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endParaRPr lang="en-US" altLang="zh-CN" b="1" dirty="0"/>
              </a:p>
              <a:p>
                <a:r>
                  <a:rPr lang="zh-CN" altLang="en-US" b="1" dirty="0"/>
                  <a:t>优化目标：</a:t>
                </a:r>
                <a:r>
                  <a:rPr lang="zh-CN" altLang="en-US" dirty="0"/>
                  <a:t>降低模型预测的系统总能耗。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Reward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系统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总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能耗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1" dirty="0"/>
              </a:p>
              <a:p>
                <a:endParaRPr lang="en-US" altLang="zh-CN" b="1" dirty="0">
                  <a:latin typeface="Cambria Math" panose="02040503050406030204" pitchFamily="18" charset="0"/>
                </a:endParaRPr>
              </a:p>
              <a:p>
                <a:r>
                  <a:rPr lang="zh-CN" altLang="zh-CN" b="1" dirty="0"/>
                  <a:t>安全约束：</a:t>
                </a:r>
                <a:r>
                  <a:rPr lang="zh-CN" altLang="zh-CN" dirty="0"/>
                  <a:t>下一时刻排气压力保持在历史第 5 至第 95 百分位范围内。</a:t>
                </a:r>
                <a:endParaRPr lang="zh-CN" altLang="zh-CN" dirty="0">
                  <a:effectLst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b="1" dirty="0">
                          <a:latin typeface="Cambria Math" panose="02040503050406030204" pitchFamily="18" charset="0"/>
                        </a:rPr>
                        <m:t>𝐬</m:t>
                      </m:r>
                      <m:r>
                        <a:rPr lang="en-US" altLang="zh-CN" b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dirty="0"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US" altLang="zh-CN" b="1" dirty="0"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5%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95%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b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:endParaRPr lang="en-US" b="1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C0BBEC4-E3D5-2B79-379A-98FF50B94C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520" y="2214513"/>
                <a:ext cx="8145780" cy="3759747"/>
              </a:xfrm>
              <a:prstGeom prst="rect">
                <a:avLst/>
              </a:prstGeom>
              <a:blipFill>
                <a:blip r:embed="rId3"/>
                <a:stretch>
                  <a:fillRect l="-674" t="-810" r="-1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标题 1">
            <a:extLst>
              <a:ext uri="{FF2B5EF4-FFF2-40B4-BE49-F238E27FC236}">
                <a16:creationId xmlns:a16="http://schemas.microsoft.com/office/drawing/2014/main" id="{05EB3B7B-B836-F707-E773-5E6533E89980}"/>
              </a:ext>
            </a:extLst>
          </p:cNvPr>
          <p:cNvSpPr>
            <a:spLocks noGrp="1"/>
          </p:cNvSpPr>
          <p:nvPr/>
        </p:nvSpPr>
        <p:spPr>
          <a:xfrm>
            <a:off x="951408" y="848597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0"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800" dirty="0" err="1">
                <a:latin typeface="黑体"/>
                <a:ea typeface="黑体"/>
                <a:cs typeface="黑体"/>
              </a:rPr>
              <a:t>上下文多臂赌博机策略</a:t>
            </a:r>
            <a:r>
              <a:rPr lang="en-US" altLang="zh-CN" sz="2800" dirty="0" err="1">
                <a:latin typeface="黑体"/>
                <a:ea typeface="黑体"/>
                <a:cs typeface="黑体"/>
              </a:rPr>
              <a:t>CMAB</a:t>
            </a:r>
            <a:endParaRPr sz="2800" dirty="0">
              <a:latin typeface="黑体"/>
              <a:ea typeface="黑体"/>
              <a:cs typeface="黑体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207EA436-27C1-EB1F-10EC-7EDD04F9C424}"/>
              </a:ext>
            </a:extLst>
          </p:cNvPr>
          <p:cNvSpPr>
            <a:spLocks noGrp="1"/>
          </p:cNvSpPr>
          <p:nvPr/>
        </p:nvSpPr>
        <p:spPr>
          <a:xfrm>
            <a:off x="419100" y="0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0"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b="1">
                <a:latin typeface="黑体"/>
                <a:ea typeface="黑体"/>
                <a:cs typeface="黑体"/>
              </a:rPr>
              <a:t>优化方法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8F61B0-2D4E-AFB2-7FA9-3A6CC1A0448A}"/>
              </a:ext>
            </a:extLst>
          </p:cNvPr>
          <p:cNvSpPr>
            <a:spLocks noGrp="1"/>
          </p:cNvSpPr>
          <p:nvPr/>
        </p:nvSpPr>
        <p:spPr>
          <a:xfrm>
            <a:off x="0" y="281940"/>
            <a:ext cx="419100" cy="556260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068ABD-45D9-B5DF-3D63-D14FCFCA7A91}"/>
              </a:ext>
            </a:extLst>
          </p:cNvPr>
          <p:cNvSpPr>
            <a:spLocks noGrp="1"/>
          </p:cNvSpPr>
          <p:nvPr/>
        </p:nvSpPr>
        <p:spPr>
          <a:xfrm>
            <a:off x="0" y="1240688"/>
            <a:ext cx="951408" cy="329389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49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801E267-7631-4397-9631-AE24EAA54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203" y="655181"/>
            <a:ext cx="6484697" cy="5547638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00FB012C-3D31-8723-A23B-DFF4FCB19F7B}"/>
              </a:ext>
            </a:extLst>
          </p:cNvPr>
          <p:cNvSpPr>
            <a:spLocks noGrp="1"/>
          </p:cNvSpPr>
          <p:nvPr/>
        </p:nvSpPr>
        <p:spPr>
          <a:xfrm>
            <a:off x="951408" y="848597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0"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800">
                <a:latin typeface="黑体"/>
                <a:ea typeface="黑体"/>
                <a:cs typeface="黑体"/>
              </a:rPr>
              <a:t>离线策略评估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15EFCA2-C862-6C1A-A0E7-A4E2C15BA4F5}"/>
              </a:ext>
            </a:extLst>
          </p:cNvPr>
          <p:cNvSpPr>
            <a:spLocks noGrp="1"/>
          </p:cNvSpPr>
          <p:nvPr/>
        </p:nvSpPr>
        <p:spPr>
          <a:xfrm>
            <a:off x="419100" y="0"/>
            <a:ext cx="9718833" cy="110394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0"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b="1">
                <a:latin typeface="黑体"/>
                <a:ea typeface="黑体"/>
                <a:cs typeface="黑体"/>
              </a:rPr>
              <a:t>优化方法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BFA38F-9CC6-A68E-32C0-C821329D0759}"/>
              </a:ext>
            </a:extLst>
          </p:cNvPr>
          <p:cNvSpPr>
            <a:spLocks noGrp="1"/>
          </p:cNvSpPr>
          <p:nvPr/>
        </p:nvSpPr>
        <p:spPr>
          <a:xfrm>
            <a:off x="0" y="281940"/>
            <a:ext cx="419100" cy="556260"/>
          </a:xfrm>
          <a:prstGeom prst="rect">
            <a:avLst/>
          </a:prstGeom>
          <a:solidFill>
            <a:srgbClr val="4B75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427310-3A27-CD0A-64DD-4F3ECCEBB214}"/>
              </a:ext>
            </a:extLst>
          </p:cNvPr>
          <p:cNvSpPr>
            <a:spLocks noGrp="1"/>
          </p:cNvSpPr>
          <p:nvPr/>
        </p:nvSpPr>
        <p:spPr>
          <a:xfrm>
            <a:off x="0" y="1240688"/>
            <a:ext cx="951408" cy="329389"/>
          </a:xfrm>
          <a:prstGeom prst="rect">
            <a:avLst/>
          </a:prstGeom>
          <a:solidFill>
            <a:schemeClr val="accent2"/>
          </a:solidFill>
          <a:ln>
            <a:solidFill>
              <a:srgbClr val="F5F5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3B83EF-31E4-270A-0F8E-44BED494F571}"/>
              </a:ext>
            </a:extLst>
          </p:cNvPr>
          <p:cNvSpPr>
            <a:spLocks noGrp="1"/>
          </p:cNvSpPr>
          <p:nvPr/>
        </p:nvSpPr>
        <p:spPr>
          <a:xfrm>
            <a:off x="209550" y="3333889"/>
            <a:ext cx="480320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/>
              <a:t>评估方式：</a:t>
            </a:r>
            <a:r>
              <a:rPr sz="1400" dirty="0" err="1"/>
              <a:t>以</a:t>
            </a:r>
            <a:r>
              <a:rPr sz="1400" dirty="0"/>
              <a:t> </a:t>
            </a:r>
            <a:r>
              <a:rPr sz="1400" dirty="0" err="1"/>
              <a:t>TSMixer</a:t>
            </a:r>
            <a:r>
              <a:rPr sz="1400" dirty="0"/>
              <a:t> </a:t>
            </a:r>
            <a:r>
              <a:rPr sz="1400" dirty="0" err="1"/>
              <a:t>预测能耗与排气压力，再由</a:t>
            </a:r>
            <a:r>
              <a:rPr sz="1400" dirty="0"/>
              <a:t> CMAB </a:t>
            </a:r>
            <a:r>
              <a:rPr sz="1400" dirty="0" err="1"/>
              <a:t>在离散频率中选择动作。结果来自历史工况上的离线反事实模拟，尚未经过现场测试，可能受分布偏移和模型不确定性影响</a:t>
            </a:r>
            <a:r>
              <a:rPr sz="1400" dirty="0"/>
              <a:t>。</a:t>
            </a:r>
          </a:p>
          <a:p>
            <a:endParaRPr sz="1400" dirty="0"/>
          </a:p>
          <a:p>
            <a:r>
              <a:rPr lang="zh-CN" altLang="en-US" sz="1400" dirty="0"/>
              <a:t>下一步：</a:t>
            </a:r>
            <a:r>
              <a:rPr sz="1400" dirty="0" err="1"/>
              <a:t>在受控范围内开展线上</a:t>
            </a:r>
            <a:r>
              <a:rPr sz="1400" dirty="0"/>
              <a:t> A/B </a:t>
            </a:r>
            <a:r>
              <a:rPr sz="1400" dirty="0" err="1"/>
              <a:t>测试，以实测能耗验证策略，再确定上线范围</a:t>
            </a:r>
            <a:r>
              <a:rPr sz="1400" dirty="0"/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7DE566-28BF-AEC7-F075-FD707AC699A3}"/>
              </a:ext>
            </a:extLst>
          </p:cNvPr>
          <p:cNvSpPr>
            <a:spLocks noGrp="1"/>
          </p:cNvSpPr>
          <p:nvPr/>
        </p:nvSpPr>
        <p:spPr>
          <a:xfrm>
            <a:off x="419100" y="2221429"/>
            <a:ext cx="4194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节能率</a:t>
            </a:r>
            <a:r>
              <a:rPr lang="en-US" altLang="zh-CN" sz="3600" dirty="0"/>
              <a:t>11.37%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978795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1208</Words>
  <Application>Microsoft Office PowerPoint</Application>
  <DocSecurity>0</DocSecurity>
  <PresentationFormat>宽屏</PresentationFormat>
  <Paragraphs>215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等线 Light</vt:lpstr>
      <vt:lpstr>黑体</vt:lpstr>
      <vt:lpstr>微软雅黑</vt:lpstr>
      <vt:lpstr>Arial</vt:lpstr>
      <vt:lpstr>Cambria Math</vt:lpstr>
      <vt:lpstr>Office 主题​​</vt:lpstr>
      <vt:lpstr>工业冷却水系统水泵调频节能分析  ——基于2025年9-11月东厂区历史运行数据</vt:lpstr>
      <vt:lpstr>PowerPoint 演示文稿</vt:lpstr>
      <vt:lpstr>执行摘要</vt:lpstr>
      <vt:lpstr>历史数据</vt:lpstr>
      <vt:lpstr>历史数据</vt:lpstr>
      <vt:lpstr>历史数据</vt:lpstr>
      <vt:lpstr>历史数据</vt:lpstr>
      <vt:lpstr>历史数据</vt:lpstr>
      <vt:lpstr>历史数据</vt:lpstr>
      <vt:lpstr>历史数据</vt:lpstr>
      <vt:lpstr>历史数据</vt:lpstr>
      <vt:lpstr>历史数据</vt:lpstr>
      <vt:lpstr>历史数据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DecisionLinnc</cp:lastModifiedBy>
  <cp:revision>3</cp:revision>
  <dcterms:created xsi:type="dcterms:W3CDTF">2026-10-22T04:20:36Z</dcterms:created>
  <dcterms:modified xsi:type="dcterms:W3CDTF">2026-10-22T05:53:08Z</dcterms:modified>
</cp:coreProperties>
</file>